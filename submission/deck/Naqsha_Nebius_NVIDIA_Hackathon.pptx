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bf87ee2-52ee-6228-bd00-24366a6c2b56}">
          <p14:sldIdLst>
            <p14:sldId id="256"/>
          </p14:sldIdLst>
        </p14:section>
        <p14:section name="Product" id="{61c41a6e-6909-4aeb-ae42-4e5ba8bd878f}">
          <p14:sldIdLst>
            <p14:sldId id="257"/>
            <p14:sldId id="258"/>
            <p14:sldId id="259"/>
            <p14:sldId id="260"/>
          </p14:sldIdLst>
        </p14:section>
        <p14:section name="Agents" id="{0bcf0dc8-d461-2c60-5c4d-f9c5e5c4a4c4}">
          <p14:sldIdLst>
            <p14:sldId id="261"/>
            <p14:sldId id="262"/>
            <p14:sldId id="263"/>
            <p14:sldId id="264"/>
          </p14:sldIdLst>
        </p14:section>
        <p14:section name="Collaboration and results" id="{fa5240a4-7363-78cc-a20b-cb7acbef0c93}">
          <p14:sldIdLst>
            <p14:sldId id="265"/>
            <p14:sldId id="266"/>
          </p14:sldIdLst>
        </p14:section>
        <p14:section name="Platform" id="{3b8f3093-682d-3618-a66c-ec096e0e33b4}">
          <p14:sldIdLst>
            <p14:sldId id="267"/>
          </p14:sldIdLst>
        </p14:section>
        <p14:section name="Impact" id="{69cb4797-0ed9-16d2-d8d9-dda60eddb161}">
          <p14:sldIdLst>
            <p14:sldId id="268"/>
            <p14:sldId id="269"/>
          </p14:sldIdLst>
        </p14:section>
        <p14:section name="Try it" id="{214a08d8-2600-491f-5825-3dba583f43bd}">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Failing checks</c:v>
                </c:pt>
              </c:strCache>
            </c:strRef>
          </c:tx>
          <c:spPr>
            <a:solidFill>
              <a:srgbClr val="2747F5"/>
            </a:solidFill>
            <a:effectLst/>
          </c:spPr>
          <c:invertIfNegative val="0"/>
          <c:dLbls>
            <c:numFmt formatCode="#,##0" sourceLinked="0"/>
            <c:txPr>
              <a:bodyPr/>
              <a:lstStyle/>
              <a:p>
                <a:pPr>
                  <a:defRPr b="1" i="0" strike="noStrike" sz="1400" u="none">
                    <a:solidFill>
                      <a:srgbClr val="111113"/>
                    </a:solidFill>
                    <a:latin typeface="+mn-lt"/>
                  </a:defRPr>
                </a:pPr>
              </a:p>
            </c:txPr>
            <c:showLegendKey val="0"/>
            <c:showVal val="1"/>
            <c:showCatName val="0"/>
            <c:showSerName val="0"/>
            <c:showPercent val="0"/>
            <c:showBubbleSize val="0"/>
            <c:showLeaderLines val="0"/>
          </c:dLbls>
          <c:cat>
            <c:multiLvlStrRef>
              <c:f>Sheet1!$A$2:$A$7</c:f>
              <c:multiLvlStrCache>
                <c:ptCount val="6"/>
                <c:lvl>
                  <c:pt idx="0">
                    <c:v>34</c:v>
                  </c:pt>
                  <c:pt idx="1">
                    <c:v>22</c:v>
                  </c:pt>
                  <c:pt idx="2">
                    <c:v>15</c:v>
                  </c:pt>
                  <c:pt idx="3">
                    <c:v>7</c:v>
                  </c:pt>
                  <c:pt idx="4">
                    <c:v>3</c:v>
                  </c:pt>
                  <c:pt idx="5">
                    <c:v>0</c:v>
                  </c:pt>
                </c:lvl>
              </c:multiLvlStrCache>
            </c:multiLvlStrRef>
          </c:cat>
          <c:val>
            <c:numRef>
              <c:f>Sheet1!$B$2:$B$7</c:f>
              <c:numCache>
                <c:formatCode>General</c:formatCode>
                <c:ptCount val="6"/>
                <c:pt idx="0">
                  <c:v>34</c:v>
                </c:pt>
                <c:pt idx="1">
                  <c:v>22</c:v>
                </c:pt>
                <c:pt idx="2">
                  <c:v>15</c:v>
                </c:pt>
                <c:pt idx="3">
                  <c:v>7</c:v>
                </c:pt>
                <c:pt idx="4">
                  <c:v>3</c:v>
                </c:pt>
                <c:pt idx="5">
                  <c:v>0</c:v>
                </c:pt>
              </c:numCache>
            </c:numRef>
          </c:val>
        </c:ser>
        <c:dLbls>
          <c:numFmt formatCode="#,##0" sourceLinked="0"/>
          <c:txPr>
            <a:bodyPr/>
            <a:lstStyle/>
            <a:p>
              <a:pPr>
                <a:defRPr b="1" i="0" strike="noStrike" sz="1400" u="none">
                  <a:solidFill>
                    <a:srgbClr val="11111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Naqsha is our entry to the Nebius x NVIDIA Global AI Hackathon, in the Best Apps and Agents track.
Naqsha is the Urdu word families in Pakistan use for a house plan. You describe a home in plain words, or upload a drawing of one, and Naqsha's agents design a floor plan checked against your city's building rules, a 3D model you can walk through, and photographs of the house from every angle.
Every text and vision agent in the product runs on NVIDIA Nemotron, served by Nebius Token Factory. The photo on the right was made from the 3D model Naqsha built for our Islamabad demo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Pakistan, most families build a house once. It usually starts as a contractor's sketch, then weeks of back and forth with a draftsman.
Three things go wrong. Drafting is slow, because every change is redrawn by hand. Nobody in the family can see the house in 3D until the walls go up, so they commit to flat drawings. And people who really know the bylaws are scarce, so the mistakes surface when the development authority returns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Naqsha turns a conversation, or a drawing, into a home that has been checked against the bylaws and that you can walk through, in minutes.
The brief in the corner is the exact message we typed for the Islamabad demo: a 10 marla plot in G-13, four bedrooms, parents downstairs, modern. From that, Naqsha designs the plan, checks it against the city's rules, builds the house in 3D as code, makes photos of it, and lets the family comment and ask for changes.
The screens in this deck are captures from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journey, left to right, using screens from the Islamabad demo.
One message starts the brief, and the setup agent asks only for what's missing. If the plot is outside Lahore, the agent looks up the city's building rules on the web with Tavily. You can also upload a drawing you already have. Naqsha shows four exterior concepts, then drafts the plan and fixes it until every check passes. Nemotron 3 Ultra writes the 3D model as code, a vision model checks it against the chosen concept, and the app makes photos of the house from four angles. Then you walk through it.
After that the family can comment and ask for changes, which is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families already have a drawing from an architect, or a sketch on paper. They can upload a photo of it.
Nemotron 3.5 Super VL reads the sheets room by room: names, sizes, positions, doors and windows. In this run it read 27 rooms on 2 floors from two sheets. The architect agent then plans from that layout and changes only what the rules need, and the concepts are drawn from the family's own layout, with the porch and the drawing room where their drawing puts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agent work, and all of it runs on Nemotron 3 Ultra through Token Factory.
Ultra drafts four plans in parallel, each adapted from a proven layout for that plot size. A deterministic rules engine scores every draft against the bylaws and livable-home rules. Then two tool-using fixer agents repair the two best drafts at the same time. Each edit is dry-run with check_edits and kept with apply_edits only if the plan gets better, and the better plan wins. Ultra then writes the 3D model as code, and Nemotron VL checks it against the concept, so Ultra can rebuild any facade feature that's missing.
On the Islamabad run the failing checks went 34, 22, 15, 7, 3, 0. The plan screen shows that countdown live, and the finished plan passed all 34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text and vision call goes to one OpenAI-compatible endpoint, Nebius Token Factory, which let us pick the right Nemotron model for each job.
Nemotron 3 Ultra is the architect: the four drafts, the two fixer agents, the 3D model as code, rule packs from web pages, facade refits, and the revision agent, which is a Google ADK agent with nine tools. Nemotron 3 Super runs the setup conversation as an ADK agent with six tools. Nemotron 3.5 Super VL is the eyes: it reads uploaded drawings, builds the feature checklist from the chosen concept, checks the 3D model against it, and reviews its own plan drawings. Nemotron 3.5 Lightning is the last fallback when a model is busy.
Only two things live outside Token Factory: Tavily for web research, and Gemini image models for the pictures, since Token Factory doesn't serve image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rules differ from city to city, so they live in Naqsha as data.
Lahore's LDA regulations ship as a pack we verified by hand. For any other city, the setup agent's research tool calls Tavily Search, then Tavily Extract on the best pages, with official sites ranked first. Nemotron 3 Ultra turns those pages into a rule pack with setbacks, coverage, FAR, height and storeys by plot size, and every band cites its sources. Where the web gives nothing, the pack falls back to the LDA baseline and the app says so.
In the demo, one message about a plot in G-13 Islamabad was enough to get CDA's rules, and the plan was checked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plan passes, the vision model reads the chosen concept into a feature checklist: cladding, fins, balconies, railings, canopies, the gate. Nemotron 3 Ultra builds every feature into the 3D model.
Then Nemotron VL compares the model with the concept, feature by feature. On the Islamabad run the first check found 86%. Ultra rebuilt the facade sections that missed, and the next check found 93%. A rebuild is kept only if it scores better.
The app then captures the model from the road, the street corner, the garden and the air, and an image model turns each capture into a photograph without moving a wall. So every photo is of the house that's on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house is a family decision, so Naqsha is built for comments.
The owner pins a note on any spot of the model; here, make the front window wider. They turn on a share link, and the family can comment without an account. Ammi, the client in our demo, pinned a note on the house asking for a bigger kitchen, because she cooks for the whole family.
Then the owner clicks Revise. The revision agent, a Google ADK agent on Nemotron 3 Ultra with nine tools, read both notes, checked each change against the bylaws and livable-home rules, and made them: a wider front window, and a kitchen island, a longer counter and a table for six. If a request would break a bylaw, it refuses and names the rule. You can also type a change straight into the Ask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demo produced. The main run is a 10 marla plot in G-13 Islamabad, checked against the CDA rules Naqsha researched.
The plan passes all 34 bylaw checks, and the fixers took the failing checks from 34 down to zero. The 3D model carries 93% of the concept's features, up from 86% before the facade was rebuilt. In a second run, starting from a drawing, Nemotron VL read 27 rooms on 2 floors from two sheets.
And the photo on the right is the street-corner view, made from that 3D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is a React app with three.js. It talks to one FastAPI service on Cloud Run over REST and Server-Sent Events, so every step streams in as it happens, and it runs the house code section by section, so the family watches the house go up.
Inside the service are the agents: the setup agent on Nemotron 3 Super, rule research with Tavily and Ultra, the drawing reader on Super VL, the architect and fixers on Ultra, the match check and photos, and the revision agent on Ultra. They all lean on one deterministic rules engine in Python.
Every text and vision call goes to Nebius Token Factory. Tavily handles web research, Gemini image models make the pictures, and Firestore and Cloud Storage hold the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get the most from this. Families see and walk through the house before they spend anything on bricks, and they can comment from a shared link. Architects can bring a checked design to the first meeting and revise it with the client in the room. Builders can sell and build from designs buyers can walk through.
Lahore is only our demo city. Because the rules are data, Naqsha grows city by city: Lahore's LDA pack is built in, Islamabad's CDA rules were researched live with Tavily in the demo, and the same path leads to Pakistan's other development authorities, then to any city that publishes its building rules.
To be clear about scope: Naqsha gives concept designs and a pre-check. A registered architect still signs the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come next. Local architects will review the rule packs for Karachi, Islamabad, Rawalpindi and Faisalabad, so researched rules become verified ones. We'll add structural and MEP drafts from the same plan, and bills of quantities priced at local rates. And the long design runs will move to Nebius Serverless Jobs, so they no longer sit on the web server.
Where that leads: a family arrives at the builder's office with a checked plan, a costed house and a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try all of this yourself, with no account or login.
Scan the code or open the link. The quickest path is Explore a sample home: it opens the Islamabad house, where you can walk through it, open Photos, and click the Matches the concept chip to see the feature-by-feature check.
To design your own, click Start your home, type one message, and click Decide everything for me. Concepts, the plan and the house follow in about ten minutes, and the plan view shows the fixer agents counting the failures down. Or click Start from your drawing and upload a photo of a floor plan.
The app stays free and open until judging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Naqsha was built by Pivot Analytix: Abdullah Moazzam, who led it, Saad Wali Muhammad Joiya and Usama Bin Maalik.
The live app needs no account, and the code is open under AGPL-3.0. Both links are on the slide and on our Devpost page.
Thank you to Nebius and NVIDIA. Every agent in Naqsha runs on Nemotron through Token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2"/>
        </a:solidFill>
      </p:bgPr>
    </p:bg>
    <p:spTree>
      <p:nvGrpSpPr>
        <p:cNvPr id="1" name=""/>
        <p:cNvGrpSpPr/>
        <p:nvPr/>
      </p:nvGrpSpPr>
      <p:grpSpPr>
        <a:xfrm>
          <a:off x="0" y="0"/>
          <a:ext cx="0" cy="0"/>
          <a:chOff x="0" y="0"/>
          <a:chExt cx="0" cy="0"/>
        </a:xfrm>
      </p:grpSpPr>
      <p:pic>
        <p:nvPicPr>
          <p:cNvPr id="2" name="Image 0" descr="/Users/abdullahmoazzam/Code/naqsha-nebius/submission/deck/assets/img/naqsha-mark.png">    </p:cNvPr>
          <p:cNvPicPr>
            <a:picLocks noChangeAspect="1"/>
          </p:cNvPicPr>
          <p:nvPr/>
        </p:nvPicPr>
        <p:blipFill>
          <a:blip r:embed="rId1"/>
          <a:stretch>
            <a:fillRect/>
          </a:stretch>
        </p:blipFill>
        <p:spPr>
          <a:xfrm>
            <a:off x="548640" y="6373368"/>
            <a:ext cx="274320" cy="274320"/>
          </a:xfrm>
          <a:prstGeom prst="rect">
            <a:avLst/>
          </a:prstGeom>
        </p:spPr>
      </p:pic>
      <p:sp>
        <p:nvSpPr>
          <p:cNvPr id="3" name="Text 0"/>
          <p:cNvSpPr/>
          <p:nvPr/>
        </p:nvSpPr>
        <p:spPr>
          <a:xfrm>
            <a:off x="932688" y="6373368"/>
            <a:ext cx="1463040" cy="274320"/>
          </a:xfrm>
          <a:prstGeom prst="rect">
            <a:avLst/>
          </a:prstGeom>
          <a:noFill/>
          <a:ln/>
        </p:spPr>
        <p:txBody>
          <a:bodyPr wrap="square" lIns="0" tIns="0" rIns="0" bIns="0" rtlCol="0" anchor="ctr"/>
          <a:lstStyle/>
          <a:p>
            <a:pPr indent="0" marL="0">
              <a:buNone/>
            </a:pPr>
            <a:r>
              <a:rPr lang="en-US" sz="1400" b="1" dirty="0">
                <a:solidFill>
                  <a:schemeClr val="tx1"/>
                </a:solidFill>
              </a:rPr>
              <a:t>Naqsha</a:t>
            </a:r>
            <a:endParaRPr lang="en-US" sz="1400" dirty="0"/>
          </a:p>
        </p:txBody>
      </p:sp>
      <p:sp>
        <p:nvSpPr>
          <p:cNvPr id="4" name="Text 1"/>
          <p:cNvSpPr/>
          <p:nvPr/>
        </p:nvSpPr>
        <p:spPr>
          <a:xfrm>
            <a:off x="6035040" y="6373368"/>
            <a:ext cx="5029200" cy="274320"/>
          </a:xfrm>
          <a:prstGeom prst="rect">
            <a:avLst/>
          </a:prstGeom>
          <a:noFill/>
          <a:ln/>
        </p:spPr>
        <p:txBody>
          <a:bodyPr wrap="square" lIns="0" tIns="0" rIns="0" bIns="0" rtlCol="0" anchor="ctr"/>
          <a:lstStyle/>
          <a:p>
            <a:pPr algn="r" indent="0" marL="0">
              <a:buNone/>
            </a:pPr>
            <a:r>
              <a:rPr lang="en-US" sz="1400" dirty="0">
                <a:solidFill>
                  <a:schemeClr val="accent3"/>
                </a:solidFill>
              </a:rPr>
              <a:t>Nebius x NVIDIA Global AI Hackathon · Devpost</a:t>
            </a:r>
            <a:endParaRPr lang="en-US" sz="1400" dirty="0"/>
          </a:p>
        </p:txBody>
      </p:sp>
      <p:sp>
        <p:nvSpPr>
          <p:cNvPr id="5" name="Text 2"/>
          <p:cNvSpPr/>
          <p:nvPr>
            <p:ph idx="103" type="body" hasCustomPrompt="1"/>
          </p:nvPr>
        </p:nvSpPr>
        <p:spPr>
          <a:xfrm>
            <a:off x="548640" y="411480"/>
            <a:ext cx="11094415"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6" name="Text 2"/>
          <p:cNvSpPr/>
          <p:nvPr>
            <p:ph idx="104" type="title" hasCustomPrompt="1"/>
          </p:nvPr>
        </p:nvSpPr>
        <p:spPr>
          <a:xfrm>
            <a:off x="548640" y="731520"/>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1"/>
        </a:solidFill>
      </p:bgPr>
    </p:bg>
    <p:spTree>
      <p:nvGrpSpPr>
        <p:cNvPr id="1" name=""/>
        <p:cNvGrpSpPr/>
        <p:nvPr/>
      </p:nvGrpSpPr>
      <p:grpSpPr>
        <a:xfrm>
          <a:off x="0" y="0"/>
          <a:ext cx="0" cy="0"/>
          <a:chOff x="0" y="0"/>
          <a:chExt cx="0" cy="0"/>
        </a:xfrm>
      </p:grpSpPr>
      <p:pic>
        <p:nvPicPr>
          <p:cNvPr id="2" name="Image 0" descr="/Users/abdullahmoazzam/Code/naqsha-nebius/submission/deck/assets/img/naqsha-mark.png">    </p:cNvPr>
          <p:cNvPicPr>
            <a:picLocks noChangeAspect="1"/>
          </p:cNvPicPr>
          <p:nvPr/>
        </p:nvPicPr>
        <p:blipFill>
          <a:blip r:embed="rId1"/>
          <a:stretch>
            <a:fillRect/>
          </a:stretch>
        </p:blipFill>
        <p:spPr>
          <a:xfrm>
            <a:off x="548640" y="6373368"/>
            <a:ext cx="274320" cy="274320"/>
          </a:xfrm>
          <a:prstGeom prst="rect">
            <a:avLst/>
          </a:prstGeom>
        </p:spPr>
      </p:pic>
      <p:sp>
        <p:nvSpPr>
          <p:cNvPr id="3" name="Text 0"/>
          <p:cNvSpPr/>
          <p:nvPr/>
        </p:nvSpPr>
        <p:spPr>
          <a:xfrm>
            <a:off x="932688" y="6373368"/>
            <a:ext cx="1463040" cy="274320"/>
          </a:xfrm>
          <a:prstGeom prst="rect">
            <a:avLst/>
          </a:prstGeom>
          <a:noFill/>
          <a:ln/>
        </p:spPr>
        <p:txBody>
          <a:bodyPr wrap="square" lIns="0" tIns="0" rIns="0" bIns="0" rtlCol="0" anchor="ctr"/>
          <a:lstStyle/>
          <a:p>
            <a:pPr indent="0" marL="0">
              <a:buNone/>
            </a:pPr>
            <a:r>
              <a:rPr lang="en-US" sz="1400" b="1" dirty="0">
                <a:solidFill>
                  <a:schemeClr val="bg1"/>
                </a:solidFill>
              </a:rPr>
              <a:t>Naqsha</a:t>
            </a:r>
            <a:endParaRPr lang="en-US" sz="1400" dirty="0"/>
          </a:p>
        </p:txBody>
      </p:sp>
      <p:sp>
        <p:nvSpPr>
          <p:cNvPr id="4" name="Text 1"/>
          <p:cNvSpPr/>
          <p:nvPr/>
        </p:nvSpPr>
        <p:spPr>
          <a:xfrm>
            <a:off x="6035040" y="6373368"/>
            <a:ext cx="5029200" cy="274320"/>
          </a:xfrm>
          <a:prstGeom prst="rect">
            <a:avLst/>
          </a:prstGeom>
          <a:noFill/>
          <a:ln/>
        </p:spPr>
        <p:txBody>
          <a:bodyPr wrap="square" lIns="0" tIns="0" rIns="0" bIns="0" rtlCol="0" anchor="ctr"/>
          <a:lstStyle/>
          <a:p>
            <a:pPr algn="r" indent="0" marL="0">
              <a:buNone/>
            </a:pPr>
            <a:r>
              <a:rPr lang="en-US" sz="1400" dirty="0">
                <a:solidFill>
                  <a:schemeClr val="accent6"/>
                </a:solidFill>
              </a:rPr>
              <a:t>Nebius x NVIDIA Global AI Hackathon · Devpost</a:t>
            </a:r>
            <a:endParaRPr lang="en-US" sz="1400" dirty="0"/>
          </a:p>
        </p:txBody>
      </p:sp>
      <p:sp>
        <p:nvSpPr>
          <p:cNvPr id="5" name="Text 2"/>
          <p:cNvSpPr/>
          <p:nvPr>
            <p:ph idx="103" type="body" hasCustomPrompt="1"/>
          </p:nvPr>
        </p:nvSpPr>
        <p:spPr>
          <a:xfrm>
            <a:off x="548640" y="411480"/>
            <a:ext cx="11094415" cy="292608"/>
          </a:xfrm>
          <a:prstGeom prst="rect">
            <a:avLst/>
          </a:prstGeom>
          <a:noFill/>
          <a:ln/>
        </p:spPr>
        <p:txBody>
          <a:bodyPr wrap="square" rtlCol="0"/>
          <a:lstStyle>
            <a:lvl1pPr algn="l" indent="0" marL="0">
              <a:buNone/>
              <a:defRPr lang="en-US" sz="1400" b="1" dirty="0">
                <a:solidFill>
                  <a:schemeClr val="accent5"/>
                </a:solidFill>
              </a:defRPr>
            </a:lvl1pPr>
          </a:lstStyle>
          <a:p>
            <a:pPr algn="l" indent="0" marL="0">
              <a:buNone/>
            </a:pPr>
            <a:endParaRPr lang="en-US" sz="1400" dirty="0"/>
          </a:p>
        </p:txBody>
      </p:sp>
      <p:sp>
        <p:nvSpPr>
          <p:cNvPr id="6" name="Text 2"/>
          <p:cNvSpPr/>
          <p:nvPr>
            <p:ph idx="104" type="title" hasCustomPrompt="1"/>
          </p:nvPr>
        </p:nvSpPr>
        <p:spPr>
          <a:xfrm>
            <a:off x="548640" y="731520"/>
            <a:ext cx="11094415"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A3A3A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4937760" cy="105156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6035040" cy="7315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jpg"/><Relationship Id="rId8" Type="http://schemas.openxmlformats.org/officeDocument/2006/relationships/image" Target="../media/image-4-8.jpg"/><Relationship Id="rId9" Type="http://schemas.openxmlformats.org/officeDocument/2006/relationships/image" Target="../media/image-4-9.jp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jp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naqsha-963839790554.us-central1.run.app" TargetMode="External"/><Relationship Id="rId1" Type="http://schemas.openxmlformats.org/officeDocument/2006/relationships/image" Target="../media/image-15-1.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naqsha-963839790554.us-central1.run.app" TargetMode="External"/><Relationship Id="rId3" Type="http://schemas.openxmlformats.org/officeDocument/2006/relationships/hyperlink" Target="https://github.com/abdm693/naqsha" TargetMode="External"/><Relationship Id="rId1" Type="http://schemas.openxmlformats.org/officeDocument/2006/relationships/image" Target="../media/image-16-1.png"/><Relationship Id="rId4" Type="http://schemas.openxmlformats.org/officeDocument/2006/relationships/image" Target="../media/image-16-2.jp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Naqsha mark" descr="Naqsha mark">    </p:cNvPr>
          <p:cNvPicPr>
            <a:picLocks noChangeAspect="1"/>
          </p:cNvPicPr>
          <p:nvPr/>
        </p:nvPicPr>
        <p:blipFill>
          <a:blip r:embed="rId1"/>
          <a:stretch>
            <a:fillRect/>
          </a:stretch>
        </p:blipFill>
        <p:spPr>
          <a:xfrm>
            <a:off x="548640" y="548640"/>
            <a:ext cx="731520" cy="731520"/>
          </a:xfrm>
          <a:prstGeom prst="rect">
            <a:avLst/>
          </a:prstGeom>
        </p:spPr>
      </p:pic>
      <p:sp>
        <p:nvSpPr>
          <p:cNvPr id="3" name="Event"/>
          <p:cNvSpPr txBox="1"/>
          <p:nvPr/>
        </p:nvSpPr>
        <p:spPr>
          <a:xfrm>
            <a:off x="1463040" y="548640"/>
            <a:ext cx="4206240" cy="731520"/>
          </a:xfrm>
          <a:prstGeom prst="rect">
            <a:avLst/>
          </a:prstGeom>
          <a:noFill/>
          <a:ln/>
        </p:spPr>
        <p:txBody>
          <a:bodyPr wrap="square" lIns="0" tIns="0" rIns="0" bIns="0" rtlCol="0" anchor="ctr"/>
          <a:lstStyle/>
          <a:p>
            <a:pPr algn="l" indent="0" marL="0">
              <a:lnSpc>
                <a:spcPct val="100000"/>
              </a:lnSpc>
              <a:buNone/>
            </a:pPr>
            <a:r>
              <a:rPr lang="en-US" sz="1400" b="1" dirty="0">
                <a:solidFill>
                  <a:schemeClr val="bg1"/>
                </a:solidFill>
              </a:rPr>
              <a:t>Nebius x NVIDIA Global AI Hackathon</a:t>
            </a:r>
            <a:endParaRPr lang="en-US" sz="1400" dirty="0"/>
          </a:p>
          <a:p>
            <a:pPr algn="l" indent="0" marL="0">
              <a:lnSpc>
                <a:spcPct val="100000"/>
              </a:lnSpc>
              <a:buNone/>
            </a:pPr>
            <a:r>
              <a:rPr lang="en-US" sz="1400" dirty="0">
                <a:solidFill>
                  <a:schemeClr val="accent6"/>
                </a:solidFill>
              </a:rPr>
              <a:t>Best Apps and Agents · Devpost</a:t>
            </a:r>
            <a:endParaRPr lang="en-US" sz="1400" dirty="0"/>
          </a:p>
        </p:txBody>
      </p:sp>
      <p:sp>
        <p:nvSpPr>
          <p:cNvPr id="4" name="Text 0"/>
          <p:cNvSpPr/>
          <p:nvPr>
            <p:ph idx="100" type="title" hasCustomPrompt="1"/>
          </p:nvPr>
        </p:nvSpPr>
        <p:spPr>
          <a:xfrm>
            <a:off x="548640" y="1600200"/>
            <a:ext cx="4937760" cy="1051560"/>
          </a:xfrm>
          <a:prstGeom prst="rect">
            <a:avLst/>
          </a:prstGeom>
          <a:noFill/>
          <a:ln/>
        </p:spPr>
        <p:txBody>
          <a:bodyPr wrap="square" lIns="0" tIns="0" rIns="0" bIns="0" rtlCol="0" anchor="t"/>
          <a:lstStyle/>
          <a:p>
            <a:pPr algn="l" indent="0" marL="0">
              <a:buNone/>
            </a:pPr>
            <a:r>
              <a:rPr lang="en-US" sz="6600" b="1" dirty="0">
                <a:solidFill>
                  <a:schemeClr val="bg1"/>
                </a:solidFill>
              </a:rPr>
              <a:t>Naqsha</a:t>
            </a:r>
            <a:endParaRPr lang="en-US" sz="6600" dirty="0"/>
          </a:p>
        </p:txBody>
      </p:sp>
      <p:sp>
        <p:nvSpPr>
          <p:cNvPr id="5" name="Urdu name"/>
          <p:cNvSpPr txBox="1"/>
          <p:nvPr/>
        </p:nvSpPr>
        <p:spPr>
          <a:xfrm>
            <a:off x="548640" y="2697480"/>
            <a:ext cx="4846320" cy="411480"/>
          </a:xfrm>
          <a:prstGeom prst="rect">
            <a:avLst/>
          </a:prstGeom>
          <a:noFill/>
          <a:ln/>
        </p:spPr>
        <p:txBody>
          <a:bodyPr wrap="square" lIns="0" tIns="0" rIns="0" bIns="0" rtlCol="0" anchor="ctr"/>
          <a:lstStyle/>
          <a:p>
            <a:pPr algn="l" indent="0" marL="0">
              <a:lnSpc>
                <a:spcPct val="100000"/>
              </a:lnSpc>
              <a:buNone/>
            </a:pPr>
            <a:r>
              <a:rPr lang="en-US" sz="1600" b="1" dirty="0">
                <a:solidFill>
                  <a:schemeClr val="accent5"/>
                </a:solidFill>
              </a:rPr>
              <a:t>نقشہ</a:t>
            </a:r>
            <a:pPr algn="l" indent="0" marL="0">
              <a:lnSpc>
                <a:spcPct val="100000"/>
              </a:lnSpc>
              <a:buNone/>
            </a:pPr>
            <a:r>
              <a:rPr lang="en-US" sz="1600" dirty="0">
                <a:solidFill>
                  <a:schemeClr val="accent6"/>
                </a:solidFill>
              </a:rPr>
              <a:t>   what families in Pakistan call a house plan</a:t>
            </a:r>
            <a:endParaRPr lang="en-US" sz="1600" dirty="0"/>
          </a:p>
        </p:txBody>
      </p:sp>
      <p:sp>
        <p:nvSpPr>
          <p:cNvPr id="6" name="Tagline"/>
          <p:cNvSpPr txBox="1"/>
          <p:nvPr/>
        </p:nvSpPr>
        <p:spPr>
          <a:xfrm>
            <a:off x="548640" y="3429000"/>
            <a:ext cx="4572000" cy="1463040"/>
          </a:xfrm>
          <a:prstGeom prst="rect">
            <a:avLst/>
          </a:prstGeom>
          <a:noFill/>
          <a:ln/>
        </p:spPr>
        <p:txBody>
          <a:bodyPr wrap="square" lIns="0" tIns="0" rIns="0" bIns="0" rtlCol="0" anchor="t"/>
          <a:lstStyle/>
          <a:p>
            <a:pPr algn="l" indent="0" marL="0">
              <a:lnSpc>
                <a:spcPct val="110000"/>
              </a:lnSpc>
              <a:buNone/>
            </a:pPr>
            <a:r>
              <a:rPr lang="en-US" sz="2000" dirty="0">
                <a:solidFill>
                  <a:schemeClr val="bg1"/>
                </a:solidFill>
              </a:rPr>
              <a:t>Describe a home or upload a drawing of one. Get a floor plan checked against your city's building rules, a 3D model you can walk through, and photos from every angle.</a:t>
            </a:r>
            <a:endParaRPr lang="en-US" sz="2000" dirty="0"/>
          </a:p>
        </p:txBody>
      </p:sp>
      <p:sp>
        <p:nvSpPr>
          <p:cNvPr id="7" name="Chip Agents on NVIDIA Nemotron · Nebius Token Factory"/>
          <p:cNvSpPr txBox="1"/>
          <p:nvPr/>
        </p:nvSpPr>
        <p:spPr>
          <a:xfrm>
            <a:off x="548640" y="5303520"/>
            <a:ext cx="4572000" cy="384048"/>
          </a:xfrm>
          <a:prstGeom prst="roundRect">
            <a:avLst>
              <a:gd name="adj" fmla="val 42857"/>
            </a:avLst>
          </a:prstGeom>
          <a:solidFill>
            <a:schemeClr val="accent2"/>
          </a:solidFill>
          <a:ln/>
        </p:spPr>
        <p:txBody>
          <a:bodyPr wrap="square" lIns="0" tIns="0" rIns="0" bIns="0" rtlCol="0" anchor="ctr"/>
          <a:lstStyle/>
          <a:p>
            <a:pPr algn="ctr" indent="0" marL="0">
              <a:buNone/>
            </a:pPr>
            <a:r>
              <a:rPr lang="en-US" sz="1400" b="1" dirty="0">
                <a:solidFill>
                  <a:schemeClr val="tx1"/>
                </a:solidFill>
              </a:rPr>
              <a:t>Agents on NVIDIA Nemotron · Nebius Token Factory</a:t>
            </a:r>
            <a:endParaRPr lang="en-US" sz="1400" dirty="0"/>
          </a:p>
        </p:txBody>
      </p:sp>
      <p:sp>
        <p:nvSpPr>
          <p:cNvPr id="8" name="Team line"/>
          <p:cNvSpPr txBox="1"/>
          <p:nvPr/>
        </p:nvSpPr>
        <p:spPr>
          <a:xfrm>
            <a:off x="548640" y="5943600"/>
            <a:ext cx="4572000" cy="548640"/>
          </a:xfrm>
          <a:prstGeom prst="rect">
            <a:avLst/>
          </a:prstGeom>
          <a:noFill/>
          <a:ln/>
        </p:spPr>
        <p:txBody>
          <a:bodyPr wrap="square" lIns="0" tIns="0" rIns="0" bIns="0" rtlCol="0" anchor="t"/>
          <a:lstStyle/>
          <a:p>
            <a:pPr algn="l" indent="0" marL="0">
              <a:lnSpc>
                <a:spcPct val="100000"/>
              </a:lnSpc>
              <a:buNone/>
            </a:pPr>
            <a:r>
              <a:rPr lang="en-US" sz="1400" dirty="0">
                <a:solidFill>
                  <a:schemeClr val="accent6"/>
                </a:solidFill>
              </a:rPr>
              <a:t>Pivot Analytix  ·  Abdullah Moazzam, Saad Wali Muhammad Joiya, Usama Bin Maalik</a:t>
            </a:r>
            <a:endParaRPr lang="en-US" sz="1400" dirty="0"/>
          </a:p>
        </p:txBody>
      </p:sp>
      <p:pic>
        <p:nvPicPr>
          <p:cNvPr id="9" name="Cover photo" descr="Photograph of the Islamabad sample home, made from Naqsha's 3D model">    </p:cNvPr>
          <p:cNvPicPr>
            <a:picLocks noChangeAspect="1"/>
          </p:cNvPicPr>
          <p:nvPr/>
        </p:nvPicPr>
        <p:blipFill>
          <a:blip r:embed="rId2"/>
          <a:stretch>
            <a:fillRect/>
          </a:stretch>
        </p:blipFill>
        <p:spPr>
          <a:xfrm>
            <a:off x="5486400" y="0"/>
            <a:ext cx="6705295" cy="6858000"/>
          </a:xfrm>
          <a:prstGeom prst="rect">
            <a:avLst/>
          </a:prstGeom>
        </p:spPr>
      </p:pic>
      <p:sp>
        <p:nvSpPr>
          <p:cNvPr id="10" name="Cover caption"/>
          <p:cNvSpPr txBox="1"/>
          <p:nvPr/>
        </p:nvSpPr>
        <p:spPr>
          <a:xfrm>
            <a:off x="5806440" y="6172200"/>
            <a:ext cx="3429000" cy="384048"/>
          </a:xfrm>
          <a:prstGeom prst="rect">
            <a:avLst/>
          </a:prstGeom>
          <a:solidFill>
            <a:schemeClr val="tx1"/>
          </a:solidFill>
          <a:ln/>
        </p:spPr>
        <p:txBody>
          <a:bodyPr wrap="square" lIns="88900" tIns="88900" rIns="88900" bIns="88900" rtlCol="0" anchor="ctr"/>
          <a:lstStyle/>
          <a:p>
            <a:pPr algn="ctr" indent="0" marL="0">
              <a:lnSpc>
                <a:spcPct val="100000"/>
              </a:lnSpc>
              <a:buNone/>
            </a:pPr>
            <a:r>
              <a:rPr lang="en-US" sz="1400" dirty="0">
                <a:solidFill>
                  <a:schemeClr val="bg1"/>
                </a:solidFill>
              </a:rPr>
              <a:t>A photo made from Naqsha's 3D model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The problem</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Most homes start as a contractor's sketch</a:t>
            </a:r>
            <a:endParaRPr lang="en-US" sz="3200" dirty="0"/>
          </a:p>
        </p:txBody>
      </p:sp>
      <p:sp>
        <p:nvSpPr>
          <p:cNvPr id="4" name="Problem card 1"/>
          <p:cNvSpPr/>
          <p:nvPr/>
        </p:nvSpPr>
        <p:spPr>
          <a:xfrm>
            <a:off x="548640" y="1783080"/>
            <a:ext cx="3484778" cy="3429000"/>
          </a:xfrm>
          <a:prstGeom prst="roundRect">
            <a:avLst>
              <a:gd name="adj" fmla="val 3200"/>
            </a:avLst>
          </a:prstGeom>
          <a:solidFill>
            <a:schemeClr val="bg1"/>
          </a:solidFill>
          <a:ln/>
          <a:effectLst>
            <a:outerShdw sx="100000" sy="100000" kx="0" ky="0" algn="bl" rotWithShape="0" blurRad="127000" dist="25400" dir="5400000">
              <a:srgbClr val="000000">
                <a:alpha val="7000"/>
              </a:srgbClr>
            </a:outerShdw>
          </a:effectLst>
        </p:spPr>
      </p:sp>
      <p:sp>
        <p:nvSpPr>
          <p:cNvPr id="5" name="Icon circle LuClock"/>
          <p:cNvSpPr/>
          <p:nvPr/>
        </p:nvSpPr>
        <p:spPr>
          <a:xfrm>
            <a:off x="914400" y="2194560"/>
            <a:ext cx="822960" cy="822960"/>
          </a:xfrm>
          <a:prstGeom prst="ellipse">
            <a:avLst/>
          </a:prstGeom>
          <a:solidFill>
            <a:schemeClr val="accent4"/>
          </a:solidFill>
          <a:ln/>
        </p:spPr>
      </p:sp>
      <p:pic>
        <p:nvPicPr>
          <p:cNvPr id="6" name="Icon LuClock" descr="preencoded.png">    </p:cNvPr>
          <p:cNvPicPr>
            <a:picLocks noChangeAspect="1"/>
          </p:cNvPicPr>
          <p:nvPr/>
        </p:nvPicPr>
        <p:blipFill>
          <a:blip r:embed="rId1"/>
          <a:stretch>
            <a:fillRect/>
          </a:stretch>
        </p:blipFill>
        <p:spPr>
          <a:xfrm>
            <a:off x="1111910" y="2392070"/>
            <a:ext cx="427939" cy="427939"/>
          </a:xfrm>
          <a:prstGeom prst="rect">
            <a:avLst/>
          </a:prstGeom>
        </p:spPr>
      </p:pic>
      <p:sp>
        <p:nvSpPr>
          <p:cNvPr id="7" name="Text 4"/>
          <p:cNvSpPr txBox="1"/>
          <p:nvPr/>
        </p:nvSpPr>
        <p:spPr>
          <a:xfrm>
            <a:off x="914400" y="3246120"/>
            <a:ext cx="2753258" cy="45720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Weeks of drafting</a:t>
            </a:r>
            <a:endParaRPr lang="en-US" sz="2200" dirty="0"/>
          </a:p>
        </p:txBody>
      </p:sp>
      <p:sp>
        <p:nvSpPr>
          <p:cNvPr id="8" name="Text 5"/>
          <p:cNvSpPr txBox="1"/>
          <p:nvPr/>
        </p:nvSpPr>
        <p:spPr>
          <a:xfrm>
            <a:off x="914400" y="3794760"/>
            <a:ext cx="2753258" cy="1188720"/>
          </a:xfrm>
          <a:prstGeom prst="rect">
            <a:avLst/>
          </a:prstGeom>
          <a:noFill/>
          <a:ln/>
        </p:spPr>
        <p:txBody>
          <a:bodyPr wrap="square" lIns="0" tIns="0" rIns="0" bIns="0" rtlCol="0" anchor="t"/>
          <a:lstStyle/>
          <a:p>
            <a:pPr algn="l" indent="0" marL="0">
              <a:lnSpc>
                <a:spcPct val="110000"/>
              </a:lnSpc>
              <a:buNone/>
            </a:pPr>
            <a:r>
              <a:rPr lang="en-US" sz="1600" dirty="0">
                <a:solidFill>
                  <a:schemeClr val="tx2"/>
                </a:solidFill>
              </a:rPr>
              <a:t>Every draft and every change goes back and forth with a draftsman, by hand.</a:t>
            </a:r>
            <a:endParaRPr lang="en-US" sz="1600" dirty="0"/>
          </a:p>
        </p:txBody>
      </p:sp>
      <p:sp>
        <p:nvSpPr>
          <p:cNvPr id="9" name="Problem card 2"/>
          <p:cNvSpPr/>
          <p:nvPr/>
        </p:nvSpPr>
        <p:spPr>
          <a:xfrm>
            <a:off x="4353458" y="1783080"/>
            <a:ext cx="3484778" cy="3429000"/>
          </a:xfrm>
          <a:prstGeom prst="roundRect">
            <a:avLst>
              <a:gd name="adj" fmla="val 3200"/>
            </a:avLst>
          </a:prstGeom>
          <a:solidFill>
            <a:schemeClr val="bg1"/>
          </a:solidFill>
          <a:ln/>
          <a:effectLst>
            <a:outerShdw sx="100000" sy="100000" kx="0" ky="0" algn="bl" rotWithShape="0" blurRad="127000" dist="25400" dir="5400000">
              <a:srgbClr val="000000">
                <a:alpha val="7000"/>
              </a:srgbClr>
            </a:outerShdw>
          </a:effectLst>
        </p:spPr>
      </p:sp>
      <p:sp>
        <p:nvSpPr>
          <p:cNvPr id="10" name="Icon circle LuEye"/>
          <p:cNvSpPr/>
          <p:nvPr/>
        </p:nvSpPr>
        <p:spPr>
          <a:xfrm>
            <a:off x="4719218" y="2194560"/>
            <a:ext cx="822960" cy="822960"/>
          </a:xfrm>
          <a:prstGeom prst="ellipse">
            <a:avLst/>
          </a:prstGeom>
          <a:solidFill>
            <a:schemeClr val="accent4"/>
          </a:solidFill>
          <a:ln/>
        </p:spPr>
      </p:sp>
      <p:pic>
        <p:nvPicPr>
          <p:cNvPr id="11" name="Icon LuEye" descr="preencoded.png">    </p:cNvPr>
          <p:cNvPicPr>
            <a:picLocks noChangeAspect="1"/>
          </p:cNvPicPr>
          <p:nvPr/>
        </p:nvPicPr>
        <p:blipFill>
          <a:blip r:embed="rId2"/>
          <a:stretch>
            <a:fillRect/>
          </a:stretch>
        </p:blipFill>
        <p:spPr>
          <a:xfrm>
            <a:off x="4916729" y="2392070"/>
            <a:ext cx="427939" cy="427939"/>
          </a:xfrm>
          <a:prstGeom prst="rect">
            <a:avLst/>
          </a:prstGeom>
        </p:spPr>
      </p:pic>
      <p:sp>
        <p:nvSpPr>
          <p:cNvPr id="12" name="Text 8"/>
          <p:cNvSpPr txBox="1"/>
          <p:nvPr/>
        </p:nvSpPr>
        <p:spPr>
          <a:xfrm>
            <a:off x="4719218" y="3246120"/>
            <a:ext cx="2753258" cy="45720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No 3D until it's built</a:t>
            </a:r>
            <a:endParaRPr lang="en-US" sz="2200" dirty="0"/>
          </a:p>
        </p:txBody>
      </p:sp>
      <p:sp>
        <p:nvSpPr>
          <p:cNvPr id="13" name="Text 9"/>
          <p:cNvSpPr txBox="1"/>
          <p:nvPr/>
        </p:nvSpPr>
        <p:spPr>
          <a:xfrm>
            <a:off x="4719218" y="3794760"/>
            <a:ext cx="2753258" cy="1188720"/>
          </a:xfrm>
          <a:prstGeom prst="rect">
            <a:avLst/>
          </a:prstGeom>
          <a:noFill/>
          <a:ln/>
        </p:spPr>
        <p:txBody>
          <a:bodyPr wrap="square" lIns="0" tIns="0" rIns="0" bIns="0" rtlCol="0" anchor="t"/>
          <a:lstStyle/>
          <a:p>
            <a:pPr algn="l" indent="0" marL="0">
              <a:lnSpc>
                <a:spcPct val="110000"/>
              </a:lnSpc>
              <a:buNone/>
            </a:pPr>
            <a:r>
              <a:rPr lang="en-US" sz="1600" dirty="0">
                <a:solidFill>
                  <a:schemeClr val="tx2"/>
                </a:solidFill>
              </a:rPr>
              <a:t>The family commits to a house they have only seen as flat drawings.</a:t>
            </a:r>
            <a:endParaRPr lang="en-US" sz="1600" dirty="0"/>
          </a:p>
        </p:txBody>
      </p:sp>
      <p:sp>
        <p:nvSpPr>
          <p:cNvPr id="14" name="Problem card 3"/>
          <p:cNvSpPr/>
          <p:nvPr/>
        </p:nvSpPr>
        <p:spPr>
          <a:xfrm>
            <a:off x="8158277" y="1783080"/>
            <a:ext cx="3484778" cy="3429000"/>
          </a:xfrm>
          <a:prstGeom prst="roundRect">
            <a:avLst>
              <a:gd name="adj" fmla="val 3200"/>
            </a:avLst>
          </a:prstGeom>
          <a:solidFill>
            <a:schemeClr val="bg1"/>
          </a:solidFill>
          <a:ln/>
          <a:effectLst>
            <a:outerShdw sx="100000" sy="100000" kx="0" ky="0" algn="bl" rotWithShape="0" blurRad="127000" dist="25400" dir="5400000">
              <a:srgbClr val="000000">
                <a:alpha val="7000"/>
              </a:srgbClr>
            </a:outerShdw>
          </a:effectLst>
        </p:spPr>
      </p:sp>
      <p:sp>
        <p:nvSpPr>
          <p:cNvPr id="15" name="Icon circle LuLandmark"/>
          <p:cNvSpPr/>
          <p:nvPr/>
        </p:nvSpPr>
        <p:spPr>
          <a:xfrm>
            <a:off x="8524037" y="2194560"/>
            <a:ext cx="822960" cy="822960"/>
          </a:xfrm>
          <a:prstGeom prst="ellipse">
            <a:avLst/>
          </a:prstGeom>
          <a:solidFill>
            <a:schemeClr val="accent4"/>
          </a:solidFill>
          <a:ln/>
        </p:spPr>
      </p:sp>
      <p:pic>
        <p:nvPicPr>
          <p:cNvPr id="16" name="Icon LuLandmark" descr="preencoded.png">    </p:cNvPr>
          <p:cNvPicPr>
            <a:picLocks noChangeAspect="1"/>
          </p:cNvPicPr>
          <p:nvPr/>
        </p:nvPicPr>
        <p:blipFill>
          <a:blip r:embed="rId3"/>
          <a:stretch>
            <a:fillRect/>
          </a:stretch>
        </p:blipFill>
        <p:spPr>
          <a:xfrm>
            <a:off x="8721547" y="2392070"/>
            <a:ext cx="427939" cy="427939"/>
          </a:xfrm>
          <a:prstGeom prst="rect">
            <a:avLst/>
          </a:prstGeom>
        </p:spPr>
      </p:pic>
      <p:sp>
        <p:nvSpPr>
          <p:cNvPr id="17" name="Text 12"/>
          <p:cNvSpPr txBox="1"/>
          <p:nvPr/>
        </p:nvSpPr>
        <p:spPr>
          <a:xfrm>
            <a:off x="8524037" y="3246120"/>
            <a:ext cx="2753258" cy="45720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Few bylaw experts</a:t>
            </a:r>
            <a:endParaRPr lang="en-US" sz="2200" dirty="0"/>
          </a:p>
        </p:txBody>
      </p:sp>
      <p:sp>
        <p:nvSpPr>
          <p:cNvPr id="18" name="Text 13"/>
          <p:cNvSpPr txBox="1"/>
          <p:nvPr/>
        </p:nvSpPr>
        <p:spPr>
          <a:xfrm>
            <a:off x="8524037" y="3794760"/>
            <a:ext cx="2753258" cy="1188720"/>
          </a:xfrm>
          <a:prstGeom prst="rect">
            <a:avLst/>
          </a:prstGeom>
          <a:noFill/>
          <a:ln/>
        </p:spPr>
        <p:txBody>
          <a:bodyPr wrap="square" lIns="0" tIns="0" rIns="0" bIns="0" rtlCol="0" anchor="t"/>
          <a:lstStyle/>
          <a:p>
            <a:pPr algn="l" indent="0" marL="0">
              <a:lnSpc>
                <a:spcPct val="110000"/>
              </a:lnSpc>
              <a:buNone/>
            </a:pPr>
            <a:r>
              <a:rPr lang="en-US" sz="1600" dirty="0">
                <a:solidFill>
                  <a:schemeClr val="tx2"/>
                </a:solidFill>
              </a:rPr>
              <a:t>Compliance experts are scarce, so mistakes show up when the authority returns the plan.</a:t>
            </a:r>
            <a:endParaRPr lang="en-US" sz="1600" dirty="0"/>
          </a:p>
        </p:txBody>
      </p:sp>
      <p:sp>
        <p:nvSpPr>
          <p:cNvPr id="19" name="Text 14"/>
          <p:cNvSpPr txBox="1"/>
          <p:nvPr/>
        </p:nvSpPr>
        <p:spPr>
          <a:xfrm>
            <a:off x="548640" y="5486400"/>
            <a:ext cx="11094415" cy="457200"/>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Families in Pakistan usually build a house once. </a:t>
            </a:r>
            <a:pPr algn="l" indent="0" marL="0">
              <a:lnSpc>
                <a:spcPct val="100000"/>
              </a:lnSpc>
              <a:buNone/>
            </a:pPr>
            <a:r>
              <a:rPr lang="en-US" sz="1600" dirty="0">
                <a:solidFill>
                  <a:schemeClr val="tx2"/>
                </a:solidFill>
              </a:rPr>
              <a:t>Nobody checks the plan against the rules until it is sent back.</a:t>
            </a:r>
            <a:endParaRPr lang="en-US" sz="16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5"/>
                </a:solidFill>
              </a:rPr>
              <a:t>What Naqsha does</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From one message to a home you can walk through</a:t>
            </a:r>
            <a:endParaRPr lang="en-US" sz="3200" dirty="0"/>
          </a:p>
        </p:txBody>
      </p:sp>
      <p:sp>
        <p:nvSpPr>
          <p:cNvPr id="4" name="Icon circle LuShieldCheck"/>
          <p:cNvSpPr/>
          <p:nvPr/>
        </p:nvSpPr>
        <p:spPr>
          <a:xfrm>
            <a:off x="548640" y="1783080"/>
            <a:ext cx="548640" cy="548640"/>
          </a:xfrm>
          <a:prstGeom prst="ellipse">
            <a:avLst/>
          </a:prstGeom>
          <a:solidFill>
            <a:schemeClr val="tx2"/>
          </a:solidFill>
          <a:ln/>
        </p:spPr>
      </p:sp>
      <p:pic>
        <p:nvPicPr>
          <p:cNvPr id="5" name="Icon LuShieldCheck" descr="preencoded.png">    </p:cNvPr>
          <p:cNvPicPr>
            <a:picLocks noChangeAspect="1"/>
          </p:cNvPicPr>
          <p:nvPr/>
        </p:nvPicPr>
        <p:blipFill>
          <a:blip r:embed="rId1"/>
          <a:stretch>
            <a:fillRect/>
          </a:stretch>
        </p:blipFill>
        <p:spPr>
          <a:xfrm>
            <a:off x="680314" y="1914754"/>
            <a:ext cx="285293" cy="285293"/>
          </a:xfrm>
          <a:prstGeom prst="rect">
            <a:avLst/>
          </a:prstGeom>
        </p:spPr>
      </p:pic>
      <p:sp>
        <p:nvSpPr>
          <p:cNvPr id="6" name="Text 3"/>
          <p:cNvSpPr txBox="1"/>
          <p:nvPr/>
        </p:nvSpPr>
        <p:spPr>
          <a:xfrm>
            <a:off x="1325880" y="1764792"/>
            <a:ext cx="3429000" cy="603504"/>
          </a:xfrm>
          <a:prstGeom prst="rect">
            <a:avLst/>
          </a:prstGeom>
          <a:noFill/>
          <a:ln/>
        </p:spPr>
        <p:txBody>
          <a:bodyPr wrap="square" lIns="0" tIns="0" rIns="0" bIns="0" rtlCol="0" anchor="ctr"/>
          <a:lstStyle/>
          <a:p>
            <a:pPr algn="l" indent="0" marL="0">
              <a:lnSpc>
                <a:spcPct val="105000"/>
              </a:lnSpc>
              <a:buNone/>
            </a:pPr>
            <a:r>
              <a:rPr lang="en-US" sz="1600" dirty="0">
                <a:solidFill>
                  <a:schemeClr val="bg1"/>
                </a:solidFill>
              </a:rPr>
              <a:t>A floor plan checked against your city's building rules</a:t>
            </a:r>
            <a:endParaRPr lang="en-US" sz="1600" dirty="0"/>
          </a:p>
        </p:txBody>
      </p:sp>
      <p:sp>
        <p:nvSpPr>
          <p:cNvPr id="7" name="Icon circle LuCuboid"/>
          <p:cNvSpPr/>
          <p:nvPr/>
        </p:nvSpPr>
        <p:spPr>
          <a:xfrm>
            <a:off x="548640" y="2606040"/>
            <a:ext cx="548640" cy="548640"/>
          </a:xfrm>
          <a:prstGeom prst="ellipse">
            <a:avLst/>
          </a:prstGeom>
          <a:solidFill>
            <a:schemeClr val="tx2"/>
          </a:solidFill>
          <a:ln/>
        </p:spPr>
      </p:sp>
      <p:pic>
        <p:nvPicPr>
          <p:cNvPr id="8" name="Icon LuCuboid" descr="preencoded.png">    </p:cNvPr>
          <p:cNvPicPr>
            <a:picLocks noChangeAspect="1"/>
          </p:cNvPicPr>
          <p:nvPr/>
        </p:nvPicPr>
        <p:blipFill>
          <a:blip r:embed="rId2"/>
          <a:stretch>
            <a:fillRect/>
          </a:stretch>
        </p:blipFill>
        <p:spPr>
          <a:xfrm>
            <a:off x="680314" y="2737714"/>
            <a:ext cx="285293" cy="285293"/>
          </a:xfrm>
          <a:prstGeom prst="rect">
            <a:avLst/>
          </a:prstGeom>
        </p:spPr>
      </p:pic>
      <p:sp>
        <p:nvSpPr>
          <p:cNvPr id="9" name="Text 5"/>
          <p:cNvSpPr txBox="1"/>
          <p:nvPr/>
        </p:nvSpPr>
        <p:spPr>
          <a:xfrm>
            <a:off x="1325880" y="2587752"/>
            <a:ext cx="3429000" cy="603504"/>
          </a:xfrm>
          <a:prstGeom prst="rect">
            <a:avLst/>
          </a:prstGeom>
          <a:noFill/>
          <a:ln/>
        </p:spPr>
        <p:txBody>
          <a:bodyPr wrap="square" lIns="0" tIns="0" rIns="0" bIns="0" rtlCol="0" anchor="ctr"/>
          <a:lstStyle/>
          <a:p>
            <a:pPr algn="l" indent="0" marL="0">
              <a:lnSpc>
                <a:spcPct val="105000"/>
              </a:lnSpc>
              <a:buNone/>
            </a:pPr>
            <a:r>
              <a:rPr lang="en-US" sz="1600" dirty="0">
                <a:solidFill>
                  <a:schemeClr val="bg1"/>
                </a:solidFill>
              </a:rPr>
              <a:t>A 3D model, written as code, that you can walk through</a:t>
            </a:r>
            <a:endParaRPr lang="en-US" sz="1600" dirty="0"/>
          </a:p>
        </p:txBody>
      </p:sp>
      <p:sp>
        <p:nvSpPr>
          <p:cNvPr id="10" name="Icon circle LuCamera"/>
          <p:cNvSpPr/>
          <p:nvPr/>
        </p:nvSpPr>
        <p:spPr>
          <a:xfrm>
            <a:off x="548640" y="3429000"/>
            <a:ext cx="548640" cy="548640"/>
          </a:xfrm>
          <a:prstGeom prst="ellipse">
            <a:avLst/>
          </a:prstGeom>
          <a:solidFill>
            <a:schemeClr val="tx2"/>
          </a:solidFill>
          <a:ln/>
        </p:spPr>
      </p:sp>
      <p:pic>
        <p:nvPicPr>
          <p:cNvPr id="11" name="Icon LuCamera" descr="preencoded.png">    </p:cNvPr>
          <p:cNvPicPr>
            <a:picLocks noChangeAspect="1"/>
          </p:cNvPicPr>
          <p:nvPr/>
        </p:nvPicPr>
        <p:blipFill>
          <a:blip r:embed="rId3"/>
          <a:stretch>
            <a:fillRect/>
          </a:stretch>
        </p:blipFill>
        <p:spPr>
          <a:xfrm>
            <a:off x="680314" y="3560674"/>
            <a:ext cx="285293" cy="285293"/>
          </a:xfrm>
          <a:prstGeom prst="rect">
            <a:avLst/>
          </a:prstGeom>
        </p:spPr>
      </p:pic>
      <p:sp>
        <p:nvSpPr>
          <p:cNvPr id="12" name="Text 7"/>
          <p:cNvSpPr txBox="1"/>
          <p:nvPr/>
        </p:nvSpPr>
        <p:spPr>
          <a:xfrm>
            <a:off x="1325880" y="3410712"/>
            <a:ext cx="3429000" cy="603504"/>
          </a:xfrm>
          <a:prstGeom prst="rect">
            <a:avLst/>
          </a:prstGeom>
          <a:noFill/>
          <a:ln/>
        </p:spPr>
        <p:txBody>
          <a:bodyPr wrap="square" lIns="0" tIns="0" rIns="0" bIns="0" rtlCol="0" anchor="ctr"/>
          <a:lstStyle/>
          <a:p>
            <a:pPr algn="l" indent="0" marL="0">
              <a:lnSpc>
                <a:spcPct val="105000"/>
              </a:lnSpc>
              <a:buNone/>
            </a:pPr>
            <a:r>
              <a:rPr lang="en-US" sz="1600" dirty="0">
                <a:solidFill>
                  <a:schemeClr val="bg1"/>
                </a:solidFill>
              </a:rPr>
              <a:t>Photos of the same house from every angle, and at night</a:t>
            </a:r>
            <a:endParaRPr lang="en-US" sz="1600" dirty="0"/>
          </a:p>
        </p:txBody>
      </p:sp>
      <p:sp>
        <p:nvSpPr>
          <p:cNvPr id="13" name="Icon circle LuMessageSquare"/>
          <p:cNvSpPr/>
          <p:nvPr/>
        </p:nvSpPr>
        <p:spPr>
          <a:xfrm>
            <a:off x="548640" y="4251960"/>
            <a:ext cx="548640" cy="548640"/>
          </a:xfrm>
          <a:prstGeom prst="ellipse">
            <a:avLst/>
          </a:prstGeom>
          <a:solidFill>
            <a:schemeClr val="tx2"/>
          </a:solidFill>
          <a:ln/>
        </p:spPr>
      </p:sp>
      <p:pic>
        <p:nvPicPr>
          <p:cNvPr id="14" name="Icon LuMessageSquare" descr="preencoded.png">    </p:cNvPr>
          <p:cNvPicPr>
            <a:picLocks noChangeAspect="1"/>
          </p:cNvPicPr>
          <p:nvPr/>
        </p:nvPicPr>
        <p:blipFill>
          <a:blip r:embed="rId4"/>
          <a:stretch>
            <a:fillRect/>
          </a:stretch>
        </p:blipFill>
        <p:spPr>
          <a:xfrm>
            <a:off x="680314" y="4383634"/>
            <a:ext cx="285293" cy="285293"/>
          </a:xfrm>
          <a:prstGeom prst="rect">
            <a:avLst/>
          </a:prstGeom>
        </p:spPr>
      </p:pic>
      <p:sp>
        <p:nvSpPr>
          <p:cNvPr id="15" name="Text 9"/>
          <p:cNvSpPr txBox="1"/>
          <p:nvPr/>
        </p:nvSpPr>
        <p:spPr>
          <a:xfrm>
            <a:off x="1325880" y="4233672"/>
            <a:ext cx="3429000" cy="603504"/>
          </a:xfrm>
          <a:prstGeom prst="rect">
            <a:avLst/>
          </a:prstGeom>
          <a:noFill/>
          <a:ln/>
        </p:spPr>
        <p:txBody>
          <a:bodyPr wrap="square" lIns="0" tIns="0" rIns="0" bIns="0" rtlCol="0" anchor="ctr"/>
          <a:lstStyle/>
          <a:p>
            <a:pPr algn="l" indent="0" marL="0">
              <a:lnSpc>
                <a:spcPct val="105000"/>
              </a:lnSpc>
              <a:buNone/>
            </a:pPr>
            <a:r>
              <a:rPr lang="en-US" sz="1600" dirty="0">
                <a:solidFill>
                  <a:schemeClr val="bg1"/>
                </a:solidFill>
              </a:rPr>
              <a:t>Comments from the family, applied by a revision agent</a:t>
            </a:r>
            <a:endParaRPr lang="en-US" sz="1600" dirty="0"/>
          </a:p>
        </p:txBody>
      </p:sp>
      <p:sp>
        <p:nvSpPr>
          <p:cNvPr id="16" name="Icon circle LuUpload"/>
          <p:cNvSpPr/>
          <p:nvPr/>
        </p:nvSpPr>
        <p:spPr>
          <a:xfrm>
            <a:off x="548640" y="5074920"/>
            <a:ext cx="548640" cy="548640"/>
          </a:xfrm>
          <a:prstGeom prst="ellipse">
            <a:avLst/>
          </a:prstGeom>
          <a:solidFill>
            <a:schemeClr val="tx2"/>
          </a:solidFill>
          <a:ln/>
        </p:spPr>
      </p:sp>
      <p:pic>
        <p:nvPicPr>
          <p:cNvPr id="17" name="Icon LuUpload" descr="preencoded.png">    </p:cNvPr>
          <p:cNvPicPr>
            <a:picLocks noChangeAspect="1"/>
          </p:cNvPicPr>
          <p:nvPr/>
        </p:nvPicPr>
        <p:blipFill>
          <a:blip r:embed="rId5"/>
          <a:stretch>
            <a:fillRect/>
          </a:stretch>
        </p:blipFill>
        <p:spPr>
          <a:xfrm>
            <a:off x="680314" y="5206594"/>
            <a:ext cx="285293" cy="285293"/>
          </a:xfrm>
          <a:prstGeom prst="rect">
            <a:avLst/>
          </a:prstGeom>
        </p:spPr>
      </p:pic>
      <p:sp>
        <p:nvSpPr>
          <p:cNvPr id="18" name="Text 11"/>
          <p:cNvSpPr txBox="1"/>
          <p:nvPr/>
        </p:nvSpPr>
        <p:spPr>
          <a:xfrm>
            <a:off x="1325880" y="5056632"/>
            <a:ext cx="3429000" cy="603504"/>
          </a:xfrm>
          <a:prstGeom prst="rect">
            <a:avLst/>
          </a:prstGeom>
          <a:noFill/>
          <a:ln/>
        </p:spPr>
        <p:txBody>
          <a:bodyPr wrap="square" lIns="0" tIns="0" rIns="0" bIns="0" rtlCol="0" anchor="ctr"/>
          <a:lstStyle/>
          <a:p>
            <a:pPr algn="l" indent="0" marL="0">
              <a:lnSpc>
                <a:spcPct val="105000"/>
              </a:lnSpc>
              <a:buNone/>
            </a:pPr>
            <a:r>
              <a:rPr lang="en-US" sz="1600" dirty="0">
                <a:solidFill>
                  <a:schemeClr val="bg1"/>
                </a:solidFill>
              </a:rPr>
              <a:t>Or start from a drawing you already have</a:t>
            </a:r>
            <a:endParaRPr lang="en-US" sz="1600" dirty="0"/>
          </a:p>
        </p:txBody>
      </p:sp>
      <p:pic>
        <p:nvPicPr>
          <p:cNvPr id="19" name="house-ink.jpg" descr="The 3D model of the Islamabad sample home in the live app">    </p:cNvPr>
          <p:cNvPicPr>
            <a:picLocks noChangeAspect="1"/>
          </p:cNvPicPr>
          <p:nvPr/>
        </p:nvPicPr>
        <p:blipFill>
          <a:blip r:embed="rId6"/>
          <a:stretch>
            <a:fillRect/>
          </a:stretch>
        </p:blipFill>
        <p:spPr>
          <a:xfrm>
            <a:off x="4983480" y="1783080"/>
            <a:ext cx="6656832" cy="3744468"/>
          </a:xfrm>
          <a:prstGeom prst="rect">
            <a:avLst/>
          </a:prstGeom>
        </p:spPr>
      </p:pic>
      <p:sp>
        <p:nvSpPr>
          <p:cNvPr id="20" name="Brief card"/>
          <p:cNvSpPr/>
          <p:nvPr/>
        </p:nvSpPr>
        <p:spPr>
          <a:xfrm>
            <a:off x="5257800" y="4114800"/>
            <a:ext cx="2880360" cy="2011680"/>
          </a:xfrm>
          <a:prstGeom prst="roundRect">
            <a:avLst>
              <a:gd name="adj" fmla="val 5455"/>
            </a:avLst>
          </a:prstGeom>
          <a:solidFill>
            <a:schemeClr val="bg1"/>
          </a:solidFill>
          <a:ln/>
          <a:effectLst>
            <a:outerShdw sx="100000" sy="100000" kx="0" ky="0" algn="bl" rotWithShape="0" blurRad="127000" dist="25400" dir="5400000">
              <a:srgbClr val="000000">
                <a:alpha val="7000"/>
              </a:srgbClr>
            </a:outerShdw>
          </a:effectLst>
        </p:spPr>
      </p:sp>
      <p:sp>
        <p:nvSpPr>
          <p:cNvPr id="21" name="Text 13"/>
          <p:cNvSpPr txBox="1"/>
          <p:nvPr/>
        </p:nvSpPr>
        <p:spPr>
          <a:xfrm>
            <a:off x="5440680" y="4224528"/>
            <a:ext cx="2560320" cy="274320"/>
          </a:xfrm>
          <a:prstGeom prst="rect">
            <a:avLst/>
          </a:prstGeom>
          <a:noFill/>
          <a:ln/>
        </p:spPr>
        <p:txBody>
          <a:bodyPr wrap="square" lIns="0" tIns="0" rIns="0" bIns="0" rtlCol="0" anchor="t"/>
          <a:lstStyle/>
          <a:p>
            <a:pPr algn="l" indent="0" marL="0">
              <a:lnSpc>
                <a:spcPct val="100000"/>
              </a:lnSpc>
              <a:buNone/>
            </a:pPr>
            <a:r>
              <a:rPr lang="en-US" sz="1400" b="1" dirty="0">
                <a:solidFill>
                  <a:schemeClr val="accent3"/>
                </a:solidFill>
              </a:rPr>
              <a:t>The brief</a:t>
            </a:r>
            <a:endParaRPr lang="en-US" sz="1400" dirty="0"/>
          </a:p>
        </p:txBody>
      </p:sp>
      <p:pic>
        <p:nvPicPr>
          <p:cNvPr id="22" name="brief-bubble.jpg" descr="The one-message brief for the Islamabad demo home">    </p:cNvPr>
          <p:cNvPicPr>
            <a:picLocks noChangeAspect="1"/>
          </p:cNvPicPr>
          <p:nvPr/>
        </p:nvPicPr>
        <p:blipFill>
          <a:blip r:embed="rId7"/>
          <a:stretch>
            <a:fillRect/>
          </a:stretch>
        </p:blipFill>
        <p:spPr>
          <a:xfrm>
            <a:off x="5440680" y="4526280"/>
            <a:ext cx="2514600" cy="1609344"/>
          </a:xfrm>
          <a:prstGeom prst="rect">
            <a:avLst/>
          </a:prstGeom>
        </p:spPr>
      </p:pic>
      <p:sp>
        <p:nvSpPr>
          <p:cNvPr id="23" name="Text 14"/>
          <p:cNvSpPr txBox="1"/>
          <p:nvPr/>
        </p:nvSpPr>
        <p:spPr>
          <a:xfrm>
            <a:off x="7818120" y="5623560"/>
            <a:ext cx="3822192" cy="320040"/>
          </a:xfrm>
          <a:prstGeom prst="rect">
            <a:avLst/>
          </a:prstGeom>
          <a:noFill/>
          <a:ln/>
        </p:spPr>
        <p:txBody>
          <a:bodyPr wrap="square" lIns="0" tIns="0" rIns="0" bIns="0" rtlCol="0" anchor="t"/>
          <a:lstStyle/>
          <a:p>
            <a:pPr algn="r" indent="0" marL="0">
              <a:lnSpc>
                <a:spcPct val="100000"/>
              </a:lnSpc>
              <a:buNone/>
            </a:pPr>
            <a:r>
              <a:rPr lang="en-US" sz="1400" dirty="0">
                <a:solidFill>
                  <a:schemeClr val="accent6"/>
                </a:solidFill>
              </a:rPr>
              <a:t>Real screens from the live app</a:t>
            </a:r>
            <a:endParaRPr lang="en-US" sz="14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A3A3A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The journey</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Nine steps from a brief to a walk-through</a:t>
            </a:r>
            <a:endParaRPr lang="en-US" sz="3200" dirty="0"/>
          </a:p>
        </p:txBody>
      </p:sp>
      <p:pic>
        <p:nvPicPr>
          <p:cNvPr id="4" name="j1-brief.jpg" descr="Brief step in the live app">    </p:cNvPr>
          <p:cNvPicPr>
            <a:picLocks noChangeAspect="1"/>
          </p:cNvPicPr>
          <p:nvPr/>
        </p:nvPicPr>
        <p:blipFill>
          <a:blip r:embed="rId1"/>
          <a:stretch>
            <a:fillRect/>
          </a:stretch>
        </p:blipFill>
        <p:spPr>
          <a:xfrm>
            <a:off x="548640" y="1645920"/>
            <a:ext cx="2075688" cy="1309831"/>
          </a:xfrm>
          <a:prstGeom prst="rect">
            <a:avLst/>
          </a:prstGeom>
        </p:spPr>
      </p:pic>
      <p:sp>
        <p:nvSpPr>
          <p:cNvPr id="5" name="Step 1"/>
          <p:cNvSpPr txBox="1"/>
          <p:nvPr/>
        </p:nvSpPr>
        <p:spPr>
          <a:xfrm>
            <a:off x="548640" y="306547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969264" y="306547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Brief</a:t>
            </a:r>
            <a:endParaRPr lang="en-US" sz="1600" dirty="0"/>
          </a:p>
        </p:txBody>
      </p:sp>
      <p:sp>
        <p:nvSpPr>
          <p:cNvPr id="7" name="Text 4"/>
          <p:cNvSpPr txBox="1"/>
          <p:nvPr/>
        </p:nvSpPr>
        <p:spPr>
          <a:xfrm>
            <a:off x="548640" y="343123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One message; the agent asks the rest</a:t>
            </a:r>
            <a:endParaRPr lang="en-US" sz="1400" dirty="0"/>
          </a:p>
        </p:txBody>
      </p:sp>
      <p:pic>
        <p:nvPicPr>
          <p:cNvPr id="8" name="j2-rules.jpg" descr="City rules step in the live app">    </p:cNvPr>
          <p:cNvPicPr>
            <a:picLocks noChangeAspect="1"/>
          </p:cNvPicPr>
          <p:nvPr/>
        </p:nvPicPr>
        <p:blipFill>
          <a:blip r:embed="rId2"/>
          <a:stretch>
            <a:fillRect/>
          </a:stretch>
        </p:blipFill>
        <p:spPr>
          <a:xfrm>
            <a:off x="2803322" y="1645920"/>
            <a:ext cx="2075688" cy="1309831"/>
          </a:xfrm>
          <a:prstGeom prst="rect">
            <a:avLst/>
          </a:prstGeom>
        </p:spPr>
      </p:pic>
      <p:sp>
        <p:nvSpPr>
          <p:cNvPr id="9" name="Step 2"/>
          <p:cNvSpPr txBox="1"/>
          <p:nvPr/>
        </p:nvSpPr>
        <p:spPr>
          <a:xfrm>
            <a:off x="2803322" y="306547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6"/>
          <p:cNvSpPr txBox="1"/>
          <p:nvPr/>
        </p:nvSpPr>
        <p:spPr>
          <a:xfrm>
            <a:off x="3223946" y="306547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City rules</a:t>
            </a:r>
            <a:endParaRPr lang="en-US" sz="1600" dirty="0"/>
          </a:p>
        </p:txBody>
      </p:sp>
      <p:sp>
        <p:nvSpPr>
          <p:cNvPr id="11" name="Text 7"/>
          <p:cNvSpPr txBox="1"/>
          <p:nvPr/>
        </p:nvSpPr>
        <p:spPr>
          <a:xfrm>
            <a:off x="2803322" y="343123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Looked up with Tavily, with sources</a:t>
            </a:r>
            <a:endParaRPr lang="en-US" sz="1400" dirty="0"/>
          </a:p>
        </p:txBody>
      </p:sp>
      <p:pic>
        <p:nvPicPr>
          <p:cNvPr id="12" name="j3-drawing.jpg" descr="Your drawing step in the live app">    </p:cNvPr>
          <p:cNvPicPr>
            <a:picLocks noChangeAspect="1"/>
          </p:cNvPicPr>
          <p:nvPr/>
        </p:nvPicPr>
        <p:blipFill>
          <a:blip r:embed="rId3"/>
          <a:stretch>
            <a:fillRect/>
          </a:stretch>
        </p:blipFill>
        <p:spPr>
          <a:xfrm>
            <a:off x="5058004" y="1645920"/>
            <a:ext cx="2075688" cy="1309831"/>
          </a:xfrm>
          <a:prstGeom prst="rect">
            <a:avLst/>
          </a:prstGeom>
        </p:spPr>
      </p:pic>
      <p:sp>
        <p:nvSpPr>
          <p:cNvPr id="13" name="Step 3"/>
          <p:cNvSpPr txBox="1"/>
          <p:nvPr/>
        </p:nvSpPr>
        <p:spPr>
          <a:xfrm>
            <a:off x="5058004" y="306547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9"/>
          <p:cNvSpPr txBox="1"/>
          <p:nvPr/>
        </p:nvSpPr>
        <p:spPr>
          <a:xfrm>
            <a:off x="5478628" y="306547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Your drawing</a:t>
            </a:r>
            <a:endParaRPr lang="en-US" sz="1600" dirty="0"/>
          </a:p>
        </p:txBody>
      </p:sp>
      <p:sp>
        <p:nvSpPr>
          <p:cNvPr id="15" name="Text 10"/>
          <p:cNvSpPr txBox="1"/>
          <p:nvPr/>
        </p:nvSpPr>
        <p:spPr>
          <a:xfrm>
            <a:off x="5058004" y="343123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Optional; VL reads every room</a:t>
            </a:r>
            <a:endParaRPr lang="en-US" sz="1400" dirty="0"/>
          </a:p>
        </p:txBody>
      </p:sp>
      <p:pic>
        <p:nvPicPr>
          <p:cNvPr id="16" name="j4-concepts.jpg" descr="Concepts step in the live app">    </p:cNvPr>
          <p:cNvPicPr>
            <a:picLocks noChangeAspect="1"/>
          </p:cNvPicPr>
          <p:nvPr/>
        </p:nvPicPr>
        <p:blipFill>
          <a:blip r:embed="rId4"/>
          <a:stretch>
            <a:fillRect/>
          </a:stretch>
        </p:blipFill>
        <p:spPr>
          <a:xfrm>
            <a:off x="7312685" y="1645920"/>
            <a:ext cx="2075688" cy="1309831"/>
          </a:xfrm>
          <a:prstGeom prst="rect">
            <a:avLst/>
          </a:prstGeom>
        </p:spPr>
      </p:pic>
      <p:sp>
        <p:nvSpPr>
          <p:cNvPr id="17" name="Step 4"/>
          <p:cNvSpPr txBox="1"/>
          <p:nvPr/>
        </p:nvSpPr>
        <p:spPr>
          <a:xfrm>
            <a:off x="7312685" y="306547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2"/>
          <p:cNvSpPr txBox="1"/>
          <p:nvPr/>
        </p:nvSpPr>
        <p:spPr>
          <a:xfrm>
            <a:off x="7733309" y="306547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Concepts</a:t>
            </a:r>
            <a:endParaRPr lang="en-US" sz="1600" dirty="0"/>
          </a:p>
        </p:txBody>
      </p:sp>
      <p:sp>
        <p:nvSpPr>
          <p:cNvPr id="19" name="Text 13"/>
          <p:cNvSpPr txBox="1"/>
          <p:nvPr/>
        </p:nvSpPr>
        <p:spPr>
          <a:xfrm>
            <a:off x="7312685" y="343123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Four exteriors, by day and night</a:t>
            </a:r>
            <a:endParaRPr lang="en-US" sz="1400" dirty="0"/>
          </a:p>
        </p:txBody>
      </p:sp>
      <p:pic>
        <p:nvPicPr>
          <p:cNvPr id="20" name="j5-plan.jpg" descr="Plan + fixers step in the live app">    </p:cNvPr>
          <p:cNvPicPr>
            <a:picLocks noChangeAspect="1"/>
          </p:cNvPicPr>
          <p:nvPr/>
        </p:nvPicPr>
        <p:blipFill>
          <a:blip r:embed="rId5"/>
          <a:stretch>
            <a:fillRect/>
          </a:stretch>
        </p:blipFill>
        <p:spPr>
          <a:xfrm>
            <a:off x="9567367" y="1645920"/>
            <a:ext cx="2075688" cy="1309831"/>
          </a:xfrm>
          <a:prstGeom prst="rect">
            <a:avLst/>
          </a:prstGeom>
        </p:spPr>
      </p:pic>
      <p:sp>
        <p:nvSpPr>
          <p:cNvPr id="21" name="Step 5"/>
          <p:cNvSpPr txBox="1"/>
          <p:nvPr/>
        </p:nvSpPr>
        <p:spPr>
          <a:xfrm>
            <a:off x="9567367" y="306547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15"/>
          <p:cNvSpPr txBox="1"/>
          <p:nvPr/>
        </p:nvSpPr>
        <p:spPr>
          <a:xfrm>
            <a:off x="9987991" y="306547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Plan + fixers</a:t>
            </a:r>
            <a:endParaRPr lang="en-US" sz="1600" dirty="0"/>
          </a:p>
        </p:txBody>
      </p:sp>
      <p:sp>
        <p:nvSpPr>
          <p:cNvPr id="23" name="Text 16"/>
          <p:cNvSpPr txBox="1"/>
          <p:nvPr/>
        </p:nvSpPr>
        <p:spPr>
          <a:xfrm>
            <a:off x="9567367" y="343123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Four drafts, fixed down to zero failures</a:t>
            </a:r>
            <a:endParaRPr lang="en-US" sz="1400" dirty="0"/>
          </a:p>
        </p:txBody>
      </p:sp>
      <p:pic>
        <p:nvPicPr>
          <p:cNvPr id="24" name="j6-house.jpg" descr="3D as code step in the live app">    </p:cNvPr>
          <p:cNvPicPr>
            <a:picLocks noChangeAspect="1"/>
          </p:cNvPicPr>
          <p:nvPr/>
        </p:nvPicPr>
        <p:blipFill>
          <a:blip r:embed="rId6"/>
          <a:stretch>
            <a:fillRect/>
          </a:stretch>
        </p:blipFill>
        <p:spPr>
          <a:xfrm>
            <a:off x="548640" y="3977640"/>
            <a:ext cx="2075688" cy="1309831"/>
          </a:xfrm>
          <a:prstGeom prst="rect">
            <a:avLst/>
          </a:prstGeom>
        </p:spPr>
      </p:pic>
      <p:sp>
        <p:nvSpPr>
          <p:cNvPr id="25" name="Step 6"/>
          <p:cNvSpPr txBox="1"/>
          <p:nvPr/>
        </p:nvSpPr>
        <p:spPr>
          <a:xfrm>
            <a:off x="548640" y="539719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Text 18"/>
          <p:cNvSpPr txBox="1"/>
          <p:nvPr/>
        </p:nvSpPr>
        <p:spPr>
          <a:xfrm>
            <a:off x="969264" y="539719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3D as code</a:t>
            </a:r>
            <a:endParaRPr lang="en-US" sz="1600" dirty="0"/>
          </a:p>
        </p:txBody>
      </p:sp>
      <p:sp>
        <p:nvSpPr>
          <p:cNvPr id="27" name="Text 19"/>
          <p:cNvSpPr txBox="1"/>
          <p:nvPr/>
        </p:nvSpPr>
        <p:spPr>
          <a:xfrm>
            <a:off x="548640" y="576295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Ultra writes the house in code</a:t>
            </a:r>
            <a:endParaRPr lang="en-US" sz="1400" dirty="0"/>
          </a:p>
        </p:txBody>
      </p:sp>
      <p:pic>
        <p:nvPicPr>
          <p:cNvPr id="28" name="j7-match.jpg" descr="Concept match step in the live app">    </p:cNvPr>
          <p:cNvPicPr>
            <a:picLocks noChangeAspect="1"/>
          </p:cNvPicPr>
          <p:nvPr/>
        </p:nvPicPr>
        <p:blipFill>
          <a:blip r:embed="rId7"/>
          <a:stretch>
            <a:fillRect/>
          </a:stretch>
        </p:blipFill>
        <p:spPr>
          <a:xfrm>
            <a:off x="2803322" y="3977640"/>
            <a:ext cx="2075688" cy="1309831"/>
          </a:xfrm>
          <a:prstGeom prst="rect">
            <a:avLst/>
          </a:prstGeom>
        </p:spPr>
      </p:pic>
      <p:sp>
        <p:nvSpPr>
          <p:cNvPr id="29" name="Step 7"/>
          <p:cNvSpPr txBox="1"/>
          <p:nvPr/>
        </p:nvSpPr>
        <p:spPr>
          <a:xfrm>
            <a:off x="2803322" y="539719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0" name="Text 21"/>
          <p:cNvSpPr txBox="1"/>
          <p:nvPr/>
        </p:nvSpPr>
        <p:spPr>
          <a:xfrm>
            <a:off x="3223946" y="539719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Concept match</a:t>
            </a:r>
            <a:endParaRPr lang="en-US" sz="1600" dirty="0"/>
          </a:p>
        </p:txBody>
      </p:sp>
      <p:sp>
        <p:nvSpPr>
          <p:cNvPr id="31" name="Text 22"/>
          <p:cNvSpPr txBox="1"/>
          <p:nvPr/>
        </p:nvSpPr>
        <p:spPr>
          <a:xfrm>
            <a:off x="2803322" y="576295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Missing features get rebuilt</a:t>
            </a:r>
            <a:endParaRPr lang="en-US" sz="1400" dirty="0"/>
          </a:p>
        </p:txBody>
      </p:sp>
      <p:pic>
        <p:nvPicPr>
          <p:cNvPr id="32" name="j8-photos.jpg" descr="Photos step in the live app">    </p:cNvPr>
          <p:cNvPicPr>
            <a:picLocks noChangeAspect="1"/>
          </p:cNvPicPr>
          <p:nvPr/>
        </p:nvPicPr>
        <p:blipFill>
          <a:blip r:embed="rId8"/>
          <a:stretch>
            <a:fillRect/>
          </a:stretch>
        </p:blipFill>
        <p:spPr>
          <a:xfrm>
            <a:off x="5058004" y="3977640"/>
            <a:ext cx="2075688" cy="1309831"/>
          </a:xfrm>
          <a:prstGeom prst="rect">
            <a:avLst/>
          </a:prstGeom>
        </p:spPr>
      </p:pic>
      <p:sp>
        <p:nvSpPr>
          <p:cNvPr id="33" name="Step 8"/>
          <p:cNvSpPr txBox="1"/>
          <p:nvPr/>
        </p:nvSpPr>
        <p:spPr>
          <a:xfrm>
            <a:off x="5058004" y="539719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4" name="Text 24"/>
          <p:cNvSpPr txBox="1"/>
          <p:nvPr/>
        </p:nvSpPr>
        <p:spPr>
          <a:xfrm>
            <a:off x="5478628" y="539719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Photos</a:t>
            </a:r>
            <a:endParaRPr lang="en-US" sz="1600" dirty="0"/>
          </a:p>
        </p:txBody>
      </p:sp>
      <p:sp>
        <p:nvSpPr>
          <p:cNvPr id="35" name="Text 25"/>
          <p:cNvSpPr txBox="1"/>
          <p:nvPr/>
        </p:nvSpPr>
        <p:spPr>
          <a:xfrm>
            <a:off x="5058004" y="576295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Four angles, made from the model</a:t>
            </a:r>
            <a:endParaRPr lang="en-US" sz="1400" dirty="0"/>
          </a:p>
        </p:txBody>
      </p:sp>
      <p:pic>
        <p:nvPicPr>
          <p:cNvPr id="36" name="j9-walk.jpg" descr="Walk step in the live app">    </p:cNvPr>
          <p:cNvPicPr>
            <a:picLocks noChangeAspect="1"/>
          </p:cNvPicPr>
          <p:nvPr/>
        </p:nvPicPr>
        <p:blipFill>
          <a:blip r:embed="rId9"/>
          <a:stretch>
            <a:fillRect/>
          </a:stretch>
        </p:blipFill>
        <p:spPr>
          <a:xfrm>
            <a:off x="7312685" y="3977640"/>
            <a:ext cx="2075688" cy="1309831"/>
          </a:xfrm>
          <a:prstGeom prst="rect">
            <a:avLst/>
          </a:prstGeom>
        </p:spPr>
      </p:pic>
      <p:sp>
        <p:nvSpPr>
          <p:cNvPr id="37" name="Step 9"/>
          <p:cNvSpPr txBox="1"/>
          <p:nvPr/>
        </p:nvSpPr>
        <p:spPr>
          <a:xfrm>
            <a:off x="7312685" y="5397199"/>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8" name="Text 27"/>
          <p:cNvSpPr txBox="1"/>
          <p:nvPr/>
        </p:nvSpPr>
        <p:spPr>
          <a:xfrm>
            <a:off x="7733309" y="5397199"/>
            <a:ext cx="1655064" cy="329184"/>
          </a:xfrm>
          <a:prstGeom prst="rect">
            <a:avLst/>
          </a:prstGeom>
          <a:noFill/>
          <a:ln/>
        </p:spPr>
        <p:txBody>
          <a:bodyPr wrap="square" lIns="0" tIns="0" rIns="0" bIns="0" rtlCol="0" anchor="ctr"/>
          <a:lstStyle/>
          <a:p>
            <a:pPr algn="l" indent="0" marL="0">
              <a:lnSpc>
                <a:spcPct val="100000"/>
              </a:lnSpc>
              <a:buNone/>
            </a:pPr>
            <a:r>
              <a:rPr lang="en-US" sz="1600" b="1" dirty="0">
                <a:solidFill>
                  <a:schemeClr val="tx1"/>
                </a:solidFill>
              </a:rPr>
              <a:t>Walk</a:t>
            </a:r>
            <a:endParaRPr lang="en-US" sz="1600" dirty="0"/>
          </a:p>
        </p:txBody>
      </p:sp>
      <p:sp>
        <p:nvSpPr>
          <p:cNvPr id="39" name="Text 28"/>
          <p:cNvSpPr txBox="1"/>
          <p:nvPr/>
        </p:nvSpPr>
        <p:spPr>
          <a:xfrm>
            <a:off x="7312685" y="5762959"/>
            <a:ext cx="2075688" cy="45720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First person, room by room</a:t>
            </a:r>
            <a:endParaRPr lang="en-US" sz="1400" dirty="0"/>
          </a:p>
        </p:txBody>
      </p:sp>
      <p:sp>
        <p:nvSpPr>
          <p:cNvPr id="40" name="Then card"/>
          <p:cNvSpPr/>
          <p:nvPr/>
        </p:nvSpPr>
        <p:spPr>
          <a:xfrm>
            <a:off x="9567367" y="3977640"/>
            <a:ext cx="2075688" cy="1309831"/>
          </a:xfrm>
          <a:prstGeom prst="roundRect">
            <a:avLst>
              <a:gd name="adj" fmla="val 8377"/>
            </a:avLst>
          </a:prstGeom>
          <a:solidFill>
            <a:schemeClr val="accent1"/>
          </a:solidFill>
          <a:ln/>
        </p:spPr>
      </p:sp>
      <p:sp>
        <p:nvSpPr>
          <p:cNvPr id="41" name="Text 30"/>
          <p:cNvSpPr txBox="1"/>
          <p:nvPr/>
        </p:nvSpPr>
        <p:spPr>
          <a:xfrm>
            <a:off x="9768535" y="4142232"/>
            <a:ext cx="1673352" cy="980647"/>
          </a:xfrm>
          <a:prstGeom prst="rect">
            <a:avLst/>
          </a:prstGeom>
          <a:noFill/>
          <a:ln/>
        </p:spPr>
        <p:txBody>
          <a:bodyPr wrap="square" lIns="0" tIns="0" rIns="0" bIns="0" rtlCol="0" anchor="ctr"/>
          <a:lstStyle/>
          <a:p>
            <a:pPr algn="l" indent="0" marL="0">
              <a:lnSpc>
                <a:spcPct val="100000"/>
              </a:lnSpc>
              <a:buNone/>
            </a:pPr>
            <a:r>
              <a:rPr lang="en-US" sz="1800" b="1" dirty="0">
                <a:solidFill>
                  <a:schemeClr val="bg1"/>
                </a:solidFill>
              </a:rPr>
              <a:t>Then share it, comment and revise</a:t>
            </a:r>
            <a:endParaRPr lang="en-US" sz="1800" dirty="0"/>
          </a:p>
        </p:txBody>
      </p:sp>
      <p:sp>
        <p:nvSpPr>
          <p:cNvPr id="42" name="Text 31"/>
          <p:cNvSpPr txBox="1"/>
          <p:nvPr/>
        </p:nvSpPr>
        <p:spPr>
          <a:xfrm>
            <a:off x="9567367" y="5397199"/>
            <a:ext cx="2075688"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3"/>
                </a:solidFill>
              </a:rPr>
              <a:t>See slide 10</a:t>
            </a:r>
            <a:endParaRPr lang="en-US" sz="14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Start from your drawing</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Upload the plan you have. Naqsha reads every room</a:t>
            </a:r>
            <a:endParaRPr lang="en-US" sz="3200" dirty="0"/>
          </a:p>
        </p:txBody>
      </p:sp>
      <p:pic>
        <p:nvPicPr>
          <p:cNvPr id="4" name="sheet-plan-ground.jpg" descr="Uploaded sheet: ground floor plan">    </p:cNvPr>
          <p:cNvPicPr>
            <a:picLocks noChangeAspect="1"/>
          </p:cNvPicPr>
          <p:nvPr/>
        </p:nvPicPr>
        <p:blipFill>
          <a:blip r:embed="rId1"/>
          <a:stretch>
            <a:fillRect/>
          </a:stretch>
        </p:blipFill>
        <p:spPr>
          <a:xfrm>
            <a:off x="548640" y="1691640"/>
            <a:ext cx="2253996" cy="3977640"/>
          </a:xfrm>
          <a:prstGeom prst="rect">
            <a:avLst/>
          </a:prstGeom>
        </p:spPr>
      </p:pic>
      <p:pic>
        <p:nvPicPr>
          <p:cNvPr id="5" name="sheet-plan-first.jpg" descr="Uploaded sheet: first floor plan">    </p:cNvPr>
          <p:cNvPicPr>
            <a:picLocks noChangeAspect="1"/>
          </p:cNvPicPr>
          <p:nvPr/>
        </p:nvPicPr>
        <p:blipFill>
          <a:blip r:embed="rId2"/>
          <a:stretch>
            <a:fillRect/>
          </a:stretch>
        </p:blipFill>
        <p:spPr>
          <a:xfrm>
            <a:off x="2985516" y="1691640"/>
            <a:ext cx="2253996" cy="3977640"/>
          </a:xfrm>
          <a:prstGeom prst="rect">
            <a:avLst/>
          </a:prstGeom>
        </p:spPr>
      </p:pic>
      <p:sp>
        <p:nvSpPr>
          <p:cNvPr id="6" name="Text 2"/>
          <p:cNvSpPr txBox="1"/>
          <p:nvPr/>
        </p:nvSpPr>
        <p:spPr>
          <a:xfrm>
            <a:off x="548640" y="5806440"/>
            <a:ext cx="4690872"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3"/>
                </a:solidFill>
              </a:rPr>
              <a:t>The two sheets uploaded in the demo</a:t>
            </a:r>
            <a:endParaRPr lang="en-US" sz="1400" dirty="0"/>
          </a:p>
        </p:txBody>
      </p:sp>
      <p:sp>
        <p:nvSpPr>
          <p:cNvPr id="7" name="Sheets to app"/>
          <p:cNvSpPr/>
          <p:nvPr/>
        </p:nvSpPr>
        <p:spPr>
          <a:xfrm>
            <a:off x="5376672" y="3657600"/>
            <a:ext cx="548640" cy="0"/>
          </a:xfrm>
          <a:prstGeom prst="line">
            <a:avLst/>
          </a:prstGeom>
          <a:noFill/>
          <a:ln w="28575">
            <a:solidFill>
              <a:schemeClr val="accent1"/>
            </a:solidFill>
            <a:prstDash val="solid"/>
            <a:tailEnd type="triangle"/>
          </a:ln>
        </p:spPr>
      </p:sp>
      <p:sp>
        <p:nvSpPr>
          <p:cNvPr id="8" name="Text 4"/>
          <p:cNvSpPr txBox="1"/>
          <p:nvPr/>
        </p:nvSpPr>
        <p:spPr>
          <a:xfrm>
            <a:off x="6153912" y="1600200"/>
            <a:ext cx="5489143" cy="868680"/>
          </a:xfrm>
          <a:prstGeom prst="rect">
            <a:avLst/>
          </a:prstGeom>
          <a:noFill/>
          <a:ln/>
        </p:spPr>
        <p:txBody>
          <a:bodyPr wrap="square" lIns="0" tIns="0" rIns="0" bIns="0" rtlCol="0" anchor="t"/>
          <a:lstStyle/>
          <a:p>
            <a:pPr algn="l" indent="0" marL="0">
              <a:lnSpc>
                <a:spcPct val="100000"/>
              </a:lnSpc>
              <a:buNone/>
            </a:pPr>
            <a:r>
              <a:rPr lang="en-US" sz="6000" b="1" dirty="0">
                <a:solidFill>
                  <a:schemeClr val="accent1"/>
                </a:solidFill>
              </a:rPr>
              <a:t>27 rooms</a:t>
            </a:r>
            <a:endParaRPr lang="en-US" sz="6000" dirty="0"/>
          </a:p>
        </p:txBody>
      </p:sp>
      <p:sp>
        <p:nvSpPr>
          <p:cNvPr id="9" name="Text 5"/>
          <p:cNvSpPr txBox="1"/>
          <p:nvPr/>
        </p:nvSpPr>
        <p:spPr>
          <a:xfrm>
            <a:off x="6153912" y="2487168"/>
            <a:ext cx="5489143" cy="365760"/>
          </a:xfrm>
          <a:prstGeom prst="rect">
            <a:avLst/>
          </a:prstGeom>
          <a:noFill/>
          <a:ln/>
        </p:spPr>
        <p:txBody>
          <a:bodyPr wrap="square" lIns="0" tIns="0" rIns="0" bIns="0" rtlCol="0" anchor="t"/>
          <a:lstStyle/>
          <a:p>
            <a:pPr algn="l" indent="0" marL="0">
              <a:lnSpc>
                <a:spcPct val="100000"/>
              </a:lnSpc>
              <a:buNone/>
            </a:pPr>
            <a:r>
              <a:rPr lang="en-US" sz="1800" b="1" dirty="0">
                <a:solidFill>
                  <a:schemeClr val="tx1"/>
                </a:solidFill>
              </a:rPr>
              <a:t>on 2 floors, read from two uploaded sheets</a:t>
            </a:r>
            <a:endParaRPr lang="en-US" sz="1800" dirty="0"/>
          </a:p>
        </p:txBody>
      </p:sp>
      <p:sp>
        <p:nvSpPr>
          <p:cNvPr id="10" name="Chip Nemotron 3.5 Super VL"/>
          <p:cNvSpPr txBox="1"/>
          <p:nvPr/>
        </p:nvSpPr>
        <p:spPr>
          <a:xfrm>
            <a:off x="6153912" y="3017520"/>
            <a:ext cx="2327148"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tx1"/>
                </a:solidFill>
              </a:rPr>
              <a:t>Nemotron 3.5 Super VL</a:t>
            </a:r>
            <a:endParaRPr lang="en-US" sz="1400" dirty="0"/>
          </a:p>
        </p:txBody>
      </p:sp>
      <p:sp>
        <p:nvSpPr>
          <p:cNvPr id="11" name="Text 7"/>
          <p:cNvSpPr txBox="1"/>
          <p:nvPr/>
        </p:nvSpPr>
        <p:spPr>
          <a:xfrm>
            <a:off x="6153912" y="3566160"/>
            <a:ext cx="5489143" cy="1188720"/>
          </a:xfrm>
          <a:prstGeom prst="rect">
            <a:avLst/>
          </a:prstGeom>
          <a:noFill/>
          <a:ln/>
        </p:spPr>
        <p:txBody>
          <a:bodyPr wrap="square" lIns="0" tIns="0" rIns="0" bIns="0" rtlCol="0" anchor="t"/>
          <a:lstStyle/>
          <a:p>
            <a:pPr algn="l" indent="0" marL="0">
              <a:lnSpc>
                <a:spcPct val="110000"/>
              </a:lnSpc>
              <a:buNone/>
            </a:pPr>
            <a:r>
              <a:rPr lang="en-US" sz="1600" dirty="0">
                <a:solidFill>
                  <a:schemeClr val="tx2"/>
                </a:solidFill>
              </a:rPr>
              <a:t>It reads names, sizes, positions, doors and windows. The architect agent plans from that layout and changes only what the rules need, and the concepts are drawn from it.</a:t>
            </a:r>
            <a:endParaRPr lang="en-US" sz="1600" dirty="0"/>
          </a:p>
        </p:txBody>
      </p:sp>
      <p:pic>
        <p:nvPicPr>
          <p:cNvPr id="12" name="drawing-read.jpg" descr="The app: Your drawing, 27 rooms read on 2 floors">    </p:cNvPr>
          <p:cNvPicPr>
            <a:picLocks noChangeAspect="1"/>
          </p:cNvPicPr>
          <p:nvPr/>
        </p:nvPicPr>
        <p:blipFill>
          <a:blip r:embed="rId3"/>
          <a:stretch>
            <a:fillRect/>
          </a:stretch>
        </p:blipFill>
        <p:spPr>
          <a:xfrm>
            <a:off x="6153912" y="4892040"/>
            <a:ext cx="5489143" cy="1109893"/>
          </a:xfrm>
          <a:prstGeom prst="rect">
            <a:avLst/>
          </a:prstGeom>
        </p:spPr>
      </p:pic>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The architect agent</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How Nemotron 3 Ultra designs a home</a:t>
            </a:r>
            <a:endParaRPr lang="en-US" sz="3200" dirty="0"/>
          </a:p>
        </p:txBody>
      </p:sp>
      <p:sp>
        <p:nvSpPr>
          <p:cNvPr id="4" name="Flow card Draft ×4"/>
          <p:cNvSpPr/>
          <p:nvPr/>
        </p:nvSpPr>
        <p:spPr>
          <a:xfrm>
            <a:off x="548640" y="1645920"/>
            <a:ext cx="1947672" cy="2514600"/>
          </a:xfrm>
          <a:prstGeom prst="roundRect">
            <a:avLst>
              <a:gd name="adj" fmla="val 5634"/>
            </a:avLst>
          </a:prstGeom>
          <a:solidFill>
            <a:schemeClr val="bg1"/>
          </a:solidFill>
          <a:ln/>
          <a:effectLst>
            <a:outerShdw sx="100000" sy="100000" kx="0" ky="0" algn="bl" rotWithShape="0" blurRad="127000" dist="25400" dir="5400000">
              <a:srgbClr val="000000">
                <a:alpha val="7000"/>
              </a:srgbClr>
            </a:outerShdw>
          </a:effectLst>
        </p:spPr>
      </p:sp>
      <p:sp>
        <p:nvSpPr>
          <p:cNvPr id="5" name="Text 3"/>
          <p:cNvSpPr txBox="1"/>
          <p:nvPr/>
        </p:nvSpPr>
        <p:spPr>
          <a:xfrm>
            <a:off x="731520" y="1828800"/>
            <a:ext cx="1581912" cy="41148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Draft ×4</a:t>
            </a:r>
            <a:endParaRPr lang="en-US" sz="2200" dirty="0"/>
          </a:p>
        </p:txBody>
      </p:sp>
      <p:sp>
        <p:nvSpPr>
          <p:cNvPr id="6" name="Chip Nemotron 3 Ultra"/>
          <p:cNvSpPr txBox="1"/>
          <p:nvPr/>
        </p:nvSpPr>
        <p:spPr>
          <a:xfrm>
            <a:off x="731520" y="2304288"/>
            <a:ext cx="1581912"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tx1"/>
                </a:solidFill>
              </a:rPr>
              <a:t>Nemotron 3 Ultra</a:t>
            </a:r>
            <a:endParaRPr lang="en-US" sz="1400" dirty="0"/>
          </a:p>
        </p:txBody>
      </p:sp>
      <p:sp>
        <p:nvSpPr>
          <p:cNvPr id="7" name="Text 5"/>
          <p:cNvSpPr txBox="1"/>
          <p:nvPr/>
        </p:nvSpPr>
        <p:spPr>
          <a:xfrm>
            <a:off x="731520" y="2761488"/>
            <a:ext cx="1581912" cy="132588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Four plans in parallel, each adapted from a proven layout.</a:t>
            </a:r>
            <a:endParaRPr lang="en-US" sz="1400" dirty="0"/>
          </a:p>
        </p:txBody>
      </p:sp>
      <p:sp>
        <p:nvSpPr>
          <p:cNvPr id="8" name="Flow arrow 1"/>
          <p:cNvSpPr/>
          <p:nvPr/>
        </p:nvSpPr>
        <p:spPr>
          <a:xfrm>
            <a:off x="2532888" y="2907792"/>
            <a:ext cx="265862" cy="0"/>
          </a:xfrm>
          <a:prstGeom prst="line">
            <a:avLst/>
          </a:prstGeom>
          <a:noFill/>
          <a:ln w="22225">
            <a:solidFill>
              <a:schemeClr val="accent1"/>
            </a:solidFill>
            <a:prstDash val="solid"/>
            <a:tailEnd type="triangle"/>
          </a:ln>
        </p:spPr>
      </p:sp>
      <p:sp>
        <p:nvSpPr>
          <p:cNvPr id="9" name="Flow card Check"/>
          <p:cNvSpPr/>
          <p:nvPr/>
        </p:nvSpPr>
        <p:spPr>
          <a:xfrm>
            <a:off x="2835326" y="1645920"/>
            <a:ext cx="1947672" cy="2514600"/>
          </a:xfrm>
          <a:prstGeom prst="roundRect">
            <a:avLst>
              <a:gd name="adj" fmla="val 5634"/>
            </a:avLst>
          </a:prstGeom>
          <a:solidFill>
            <a:schemeClr val="bg1"/>
          </a:solidFill>
          <a:ln/>
          <a:effectLst>
            <a:outerShdw sx="100000" sy="100000" kx="0" ky="0" algn="bl" rotWithShape="0" blurRad="127000" dist="25400" dir="5400000">
              <a:srgbClr val="000000">
                <a:alpha val="7000"/>
              </a:srgbClr>
            </a:outerShdw>
          </a:effectLst>
        </p:spPr>
      </p:sp>
      <p:sp>
        <p:nvSpPr>
          <p:cNvPr id="10" name="Text 8"/>
          <p:cNvSpPr txBox="1"/>
          <p:nvPr/>
        </p:nvSpPr>
        <p:spPr>
          <a:xfrm>
            <a:off x="3018206" y="1828800"/>
            <a:ext cx="1581912" cy="41148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Check</a:t>
            </a:r>
            <a:endParaRPr lang="en-US" sz="2200" dirty="0"/>
          </a:p>
        </p:txBody>
      </p:sp>
      <p:sp>
        <p:nvSpPr>
          <p:cNvPr id="11" name="Chip Rules engine"/>
          <p:cNvSpPr txBox="1"/>
          <p:nvPr/>
        </p:nvSpPr>
        <p:spPr>
          <a:xfrm>
            <a:off x="3018206" y="2304288"/>
            <a:ext cx="1581912"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accent1"/>
                </a:solidFill>
              </a:rPr>
              <a:t>Rules engine</a:t>
            </a:r>
            <a:endParaRPr lang="en-US" sz="1400" dirty="0"/>
          </a:p>
        </p:txBody>
      </p:sp>
      <p:sp>
        <p:nvSpPr>
          <p:cNvPr id="12" name="Text 10"/>
          <p:cNvSpPr txBox="1"/>
          <p:nvPr/>
        </p:nvSpPr>
        <p:spPr>
          <a:xfrm>
            <a:off x="3018206" y="2761488"/>
            <a:ext cx="1581912" cy="132588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Deterministic Python scores each draft against the bylaws.</a:t>
            </a:r>
            <a:endParaRPr lang="en-US" sz="1400" dirty="0"/>
          </a:p>
        </p:txBody>
      </p:sp>
      <p:sp>
        <p:nvSpPr>
          <p:cNvPr id="13" name="Flow arrow 2"/>
          <p:cNvSpPr/>
          <p:nvPr/>
        </p:nvSpPr>
        <p:spPr>
          <a:xfrm>
            <a:off x="4819574" y="2907792"/>
            <a:ext cx="265862" cy="0"/>
          </a:xfrm>
          <a:prstGeom prst="line">
            <a:avLst/>
          </a:prstGeom>
          <a:noFill/>
          <a:ln w="22225">
            <a:solidFill>
              <a:schemeClr val="accent1"/>
            </a:solidFill>
            <a:prstDash val="solid"/>
            <a:tailEnd type="triangle"/>
          </a:ln>
        </p:spPr>
      </p:sp>
      <p:sp>
        <p:nvSpPr>
          <p:cNvPr id="14" name="Flow card Fix ×2"/>
          <p:cNvSpPr/>
          <p:nvPr/>
        </p:nvSpPr>
        <p:spPr>
          <a:xfrm>
            <a:off x="5122012" y="1645920"/>
            <a:ext cx="1947672" cy="2514600"/>
          </a:xfrm>
          <a:prstGeom prst="roundRect">
            <a:avLst>
              <a:gd name="adj" fmla="val 5634"/>
            </a:avLst>
          </a:prstGeom>
          <a:solidFill>
            <a:schemeClr val="bg1"/>
          </a:solidFill>
          <a:ln/>
          <a:effectLst>
            <a:outerShdw sx="100000" sy="100000" kx="0" ky="0" algn="bl" rotWithShape="0" blurRad="127000" dist="25400" dir="5400000">
              <a:srgbClr val="000000">
                <a:alpha val="7000"/>
              </a:srgbClr>
            </a:outerShdw>
          </a:effectLst>
        </p:spPr>
      </p:sp>
      <p:sp>
        <p:nvSpPr>
          <p:cNvPr id="15" name="Text 13"/>
          <p:cNvSpPr txBox="1"/>
          <p:nvPr/>
        </p:nvSpPr>
        <p:spPr>
          <a:xfrm>
            <a:off x="5304892" y="1828800"/>
            <a:ext cx="1581912" cy="41148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Fix ×2</a:t>
            </a:r>
            <a:endParaRPr lang="en-US" sz="2200" dirty="0"/>
          </a:p>
        </p:txBody>
      </p:sp>
      <p:sp>
        <p:nvSpPr>
          <p:cNvPr id="16" name="Chip Nemotron 3 Ultra"/>
          <p:cNvSpPr txBox="1"/>
          <p:nvPr/>
        </p:nvSpPr>
        <p:spPr>
          <a:xfrm>
            <a:off x="5304892" y="2304288"/>
            <a:ext cx="1581912"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tx1"/>
                </a:solidFill>
              </a:rPr>
              <a:t>Nemotron 3 Ultra</a:t>
            </a:r>
            <a:endParaRPr lang="en-US" sz="1400" dirty="0"/>
          </a:p>
        </p:txBody>
      </p:sp>
      <p:sp>
        <p:nvSpPr>
          <p:cNvPr id="17" name="Text 15"/>
          <p:cNvSpPr txBox="1"/>
          <p:nvPr/>
        </p:nvSpPr>
        <p:spPr>
          <a:xfrm>
            <a:off x="5304892" y="2761488"/>
            <a:ext cx="1581912" cy="132588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Two fixer agents edit the best drafts with check_edits and apply_edits. The better plan wins.</a:t>
            </a:r>
            <a:endParaRPr lang="en-US" sz="1400" dirty="0"/>
          </a:p>
        </p:txBody>
      </p:sp>
      <p:sp>
        <p:nvSpPr>
          <p:cNvPr id="18" name="Flow arrow 3"/>
          <p:cNvSpPr/>
          <p:nvPr/>
        </p:nvSpPr>
        <p:spPr>
          <a:xfrm>
            <a:off x="7106260" y="2907792"/>
            <a:ext cx="265862" cy="0"/>
          </a:xfrm>
          <a:prstGeom prst="line">
            <a:avLst/>
          </a:prstGeom>
          <a:noFill/>
          <a:ln w="22225">
            <a:solidFill>
              <a:schemeClr val="accent1"/>
            </a:solidFill>
            <a:prstDash val="solid"/>
            <a:tailEnd type="triangle"/>
          </a:ln>
        </p:spPr>
      </p:sp>
      <p:sp>
        <p:nvSpPr>
          <p:cNvPr id="19" name="Flow card Build"/>
          <p:cNvSpPr/>
          <p:nvPr/>
        </p:nvSpPr>
        <p:spPr>
          <a:xfrm>
            <a:off x="7408697" y="1645920"/>
            <a:ext cx="1947672" cy="2514600"/>
          </a:xfrm>
          <a:prstGeom prst="roundRect">
            <a:avLst>
              <a:gd name="adj" fmla="val 5634"/>
            </a:avLst>
          </a:prstGeom>
          <a:solidFill>
            <a:schemeClr val="bg1"/>
          </a:solidFill>
          <a:ln/>
          <a:effectLst>
            <a:outerShdw sx="100000" sy="100000" kx="0" ky="0" algn="bl" rotWithShape="0" blurRad="127000" dist="25400" dir="5400000">
              <a:srgbClr val="000000">
                <a:alpha val="7000"/>
              </a:srgbClr>
            </a:outerShdw>
          </a:effectLst>
        </p:spPr>
      </p:sp>
      <p:sp>
        <p:nvSpPr>
          <p:cNvPr id="20" name="Text 18"/>
          <p:cNvSpPr txBox="1"/>
          <p:nvPr/>
        </p:nvSpPr>
        <p:spPr>
          <a:xfrm>
            <a:off x="7591577" y="1828800"/>
            <a:ext cx="1581912" cy="41148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Build</a:t>
            </a:r>
            <a:endParaRPr lang="en-US" sz="2200" dirty="0"/>
          </a:p>
        </p:txBody>
      </p:sp>
      <p:sp>
        <p:nvSpPr>
          <p:cNvPr id="21" name="Chip Nemotron 3 Ultra"/>
          <p:cNvSpPr txBox="1"/>
          <p:nvPr/>
        </p:nvSpPr>
        <p:spPr>
          <a:xfrm>
            <a:off x="7591577" y="2304288"/>
            <a:ext cx="1581912"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tx1"/>
                </a:solidFill>
              </a:rPr>
              <a:t>Nemotron 3 Ultra</a:t>
            </a:r>
            <a:endParaRPr lang="en-US" sz="1400" dirty="0"/>
          </a:p>
        </p:txBody>
      </p:sp>
      <p:sp>
        <p:nvSpPr>
          <p:cNvPr id="22" name="Text 20"/>
          <p:cNvSpPr txBox="1"/>
          <p:nvPr/>
        </p:nvSpPr>
        <p:spPr>
          <a:xfrm>
            <a:off x="7591577" y="2761488"/>
            <a:ext cx="1581912" cy="132588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Writes the 3D model as code, section by section.</a:t>
            </a:r>
            <a:endParaRPr lang="en-US" sz="1400" dirty="0"/>
          </a:p>
        </p:txBody>
      </p:sp>
      <p:sp>
        <p:nvSpPr>
          <p:cNvPr id="23" name="Flow arrow 4"/>
          <p:cNvSpPr/>
          <p:nvPr/>
        </p:nvSpPr>
        <p:spPr>
          <a:xfrm>
            <a:off x="9392945" y="2907792"/>
            <a:ext cx="265862" cy="0"/>
          </a:xfrm>
          <a:prstGeom prst="line">
            <a:avLst/>
          </a:prstGeom>
          <a:noFill/>
          <a:ln w="22225">
            <a:solidFill>
              <a:schemeClr val="accent1"/>
            </a:solidFill>
            <a:prstDash val="solid"/>
            <a:tailEnd type="triangle"/>
          </a:ln>
        </p:spPr>
      </p:sp>
      <p:sp>
        <p:nvSpPr>
          <p:cNvPr id="24" name="Flow card Match"/>
          <p:cNvSpPr/>
          <p:nvPr/>
        </p:nvSpPr>
        <p:spPr>
          <a:xfrm>
            <a:off x="9695383" y="1645920"/>
            <a:ext cx="1947672" cy="2514600"/>
          </a:xfrm>
          <a:prstGeom prst="roundRect">
            <a:avLst>
              <a:gd name="adj" fmla="val 5634"/>
            </a:avLst>
          </a:prstGeom>
          <a:solidFill>
            <a:schemeClr val="bg1"/>
          </a:solidFill>
          <a:ln/>
          <a:effectLst>
            <a:outerShdw sx="100000" sy="100000" kx="0" ky="0" algn="bl" rotWithShape="0" blurRad="127000" dist="25400" dir="5400000">
              <a:srgbClr val="000000">
                <a:alpha val="7000"/>
              </a:srgbClr>
            </a:outerShdw>
          </a:effectLst>
        </p:spPr>
      </p:sp>
      <p:sp>
        <p:nvSpPr>
          <p:cNvPr id="25" name="Text 23"/>
          <p:cNvSpPr txBox="1"/>
          <p:nvPr/>
        </p:nvSpPr>
        <p:spPr>
          <a:xfrm>
            <a:off x="9878263" y="1828800"/>
            <a:ext cx="1581912" cy="411480"/>
          </a:xfrm>
          <a:prstGeom prst="rect">
            <a:avLst/>
          </a:prstGeom>
          <a:noFill/>
          <a:ln/>
        </p:spPr>
        <p:txBody>
          <a:bodyPr wrap="square" lIns="0" tIns="0" rIns="0" bIns="0" rtlCol="0" anchor="t"/>
          <a:lstStyle/>
          <a:p>
            <a:pPr algn="l" indent="0" marL="0">
              <a:lnSpc>
                <a:spcPct val="100000"/>
              </a:lnSpc>
              <a:buNone/>
            </a:pPr>
            <a:r>
              <a:rPr lang="en-US" sz="2200" b="1" dirty="0">
                <a:solidFill>
                  <a:schemeClr val="tx1"/>
                </a:solidFill>
              </a:rPr>
              <a:t>Match</a:t>
            </a:r>
            <a:endParaRPr lang="en-US" sz="2200" dirty="0"/>
          </a:p>
        </p:txBody>
      </p:sp>
      <p:sp>
        <p:nvSpPr>
          <p:cNvPr id="26" name="Chip Super VL + Ultra"/>
          <p:cNvSpPr txBox="1"/>
          <p:nvPr/>
        </p:nvSpPr>
        <p:spPr>
          <a:xfrm>
            <a:off x="9878263" y="2304288"/>
            <a:ext cx="1581912"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tx1"/>
                </a:solidFill>
              </a:rPr>
              <a:t>Super VL + Ultra</a:t>
            </a:r>
            <a:endParaRPr lang="en-US" sz="1400" dirty="0"/>
          </a:p>
        </p:txBody>
      </p:sp>
      <p:sp>
        <p:nvSpPr>
          <p:cNvPr id="27" name="Text 25"/>
          <p:cNvSpPr txBox="1"/>
          <p:nvPr/>
        </p:nvSpPr>
        <p:spPr>
          <a:xfrm>
            <a:off x="9878263" y="2761488"/>
            <a:ext cx="1581912" cy="132588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VL compares the model with the concept. Ultra rebuilds what's missing.</a:t>
            </a:r>
            <a:endParaRPr lang="en-US" sz="1400" dirty="0"/>
          </a:p>
        </p:txBody>
      </p:sp>
      <p:sp>
        <p:nvSpPr>
          <p:cNvPr id="28" name="Text 26"/>
          <p:cNvSpPr txBox="1"/>
          <p:nvPr/>
        </p:nvSpPr>
        <p:spPr>
          <a:xfrm>
            <a:off x="548640" y="4389120"/>
            <a:ext cx="6400800" cy="320040"/>
          </a:xfrm>
          <a:prstGeom prst="rect">
            <a:avLst/>
          </a:prstGeom>
          <a:noFill/>
          <a:ln/>
        </p:spPr>
        <p:txBody>
          <a:bodyPr wrap="square" lIns="0" tIns="0" rIns="0" bIns="0" rtlCol="0" anchor="t"/>
          <a:lstStyle/>
          <a:p>
            <a:pPr algn="l" indent="0" marL="0">
              <a:lnSpc>
                <a:spcPct val="100000"/>
              </a:lnSpc>
              <a:buNone/>
            </a:pPr>
            <a:r>
              <a:rPr lang="en-US" sz="1600" b="1" dirty="0">
                <a:solidFill>
                  <a:schemeClr val="tx1"/>
                </a:solidFill>
              </a:rPr>
              <a:t>Failing checks on the Islamabad plan, as the fixers worked</a:t>
            </a:r>
            <a:endParaRPr lang="en-US" sz="1600" dirty="0"/>
          </a:p>
        </p:txBody>
      </p:sp>
      <p:graphicFrame>
        <p:nvGraphicFramePr>
          <p:cNvPr id="29" name="Countdown chart" descr="Failing checks fell 34, 22, 15, 7, 3, 0 as the fixer agents worked"/>
          <p:cNvGraphicFramePr/>
          <p:nvPr/>
        </p:nvGraphicFramePr>
        <p:xfrm>
          <a:off x="548640" y="4709160"/>
          <a:ext cx="6400800" cy="1508760"/>
        </p:xfrm>
        <a:graphic xmlns:a="http://schemas.openxmlformats.org/drawingml/2006/main">
          <a:graphicData uri="http://schemas.openxmlformats.org/drawingml/2006/chart">
            <c:chart xmlns:c="http://schemas.openxmlformats.org/drawingml/2006/chart" r:id="rId1"/>
          </a:graphicData>
        </a:graphic>
      </p:graphicFrame>
      <p:sp>
        <p:nvSpPr>
          <p:cNvPr id="30" name="Countdown card"/>
          <p:cNvSpPr/>
          <p:nvPr/>
        </p:nvSpPr>
        <p:spPr>
          <a:xfrm>
            <a:off x="7406640" y="4389120"/>
            <a:ext cx="4236415" cy="1828800"/>
          </a:xfrm>
          <a:prstGeom prst="roundRect">
            <a:avLst>
              <a:gd name="adj" fmla="val 6000"/>
            </a:avLst>
          </a:prstGeom>
          <a:solidFill>
            <a:schemeClr val="bg1"/>
          </a:solidFill>
          <a:ln/>
          <a:effectLst>
            <a:outerShdw sx="100000" sy="100000" kx="0" ky="0" algn="bl" rotWithShape="0" blurRad="127000" dist="25400" dir="5400000">
              <a:srgbClr val="000000">
                <a:alpha val="7000"/>
              </a:srgbClr>
            </a:outerShdw>
          </a:effectLst>
        </p:spPr>
      </p:sp>
      <p:pic>
        <p:nvPicPr>
          <p:cNvPr id="31" name="plan-countdown.jpg" descr="The plan screen's progress card: Fixed 34, 22, 15, 7, 3, 0">    </p:cNvPr>
          <p:cNvPicPr>
            <a:picLocks noChangeAspect="1"/>
          </p:cNvPicPr>
          <p:nvPr/>
        </p:nvPicPr>
        <p:blipFill>
          <a:blip r:embed="rId2"/>
          <a:stretch>
            <a:fillRect/>
          </a:stretch>
        </p:blipFill>
        <p:spPr>
          <a:xfrm>
            <a:off x="7589520" y="4526280"/>
            <a:ext cx="3870655" cy="872575"/>
          </a:xfrm>
          <a:prstGeom prst="rect">
            <a:avLst/>
          </a:prstGeom>
        </p:spPr>
      </p:pic>
      <p:sp>
        <p:nvSpPr>
          <p:cNvPr id="32" name="Text 28"/>
          <p:cNvSpPr txBox="1"/>
          <p:nvPr/>
        </p:nvSpPr>
        <p:spPr>
          <a:xfrm>
            <a:off x="7589520" y="5468112"/>
            <a:ext cx="3870655" cy="658368"/>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The plan view shows the countdown live. The finished plan passed all 34 bylaw checks.</a:t>
            </a:r>
            <a:endParaRPr lang="en-US" sz="15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5"/>
                </a:solidFill>
              </a:rPr>
              <a:t>Nebius Token Factory</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Four Nemotron models, one endpoint</a:t>
            </a:r>
            <a:endParaRPr lang="en-US" sz="3200" dirty="0"/>
          </a:p>
        </p:txBody>
      </p:sp>
      <p:sp>
        <p:nvSpPr>
          <p:cNvPr id="4" name="Model card Nemotron 3 Ultra"/>
          <p:cNvSpPr/>
          <p:nvPr/>
        </p:nvSpPr>
        <p:spPr>
          <a:xfrm>
            <a:off x="548640" y="1691640"/>
            <a:ext cx="3246120" cy="3931920"/>
          </a:xfrm>
          <a:prstGeom prst="roundRect">
            <a:avLst>
              <a:gd name="adj" fmla="val 3380"/>
            </a:avLst>
          </a:prstGeom>
          <a:solidFill>
            <a:schemeClr val="bg1">
              <a:alpha val="8000"/>
            </a:schemeClr>
          </a:solidFill>
          <a:ln/>
        </p:spPr>
      </p:sp>
      <p:sp>
        <p:nvSpPr>
          <p:cNvPr id="5" name="Text 3"/>
          <p:cNvSpPr txBox="1"/>
          <p:nvPr/>
        </p:nvSpPr>
        <p:spPr>
          <a:xfrm>
            <a:off x="777240" y="1920240"/>
            <a:ext cx="2788920" cy="731520"/>
          </a:xfrm>
          <a:prstGeom prst="rect">
            <a:avLst/>
          </a:prstGeom>
          <a:noFill/>
          <a:ln/>
        </p:spPr>
        <p:txBody>
          <a:bodyPr wrap="square" lIns="0" tIns="0" rIns="0" bIns="0" rtlCol="0" anchor="t"/>
          <a:lstStyle/>
          <a:p>
            <a:pPr algn="l" indent="0" marL="0">
              <a:lnSpc>
                <a:spcPct val="100000"/>
              </a:lnSpc>
              <a:buNone/>
            </a:pPr>
            <a:r>
              <a:rPr lang="en-US" sz="2000" b="1" dirty="0">
                <a:solidFill>
                  <a:schemeClr val="accent2"/>
                </a:solidFill>
              </a:rPr>
              <a:t>Nemotron 3 Ultra</a:t>
            </a:r>
            <a:endParaRPr lang="en-US" sz="2000" dirty="0"/>
          </a:p>
        </p:txBody>
      </p:sp>
      <p:sp>
        <p:nvSpPr>
          <p:cNvPr id="6" name="Text 4"/>
          <p:cNvSpPr txBox="1"/>
          <p:nvPr/>
        </p:nvSpPr>
        <p:spPr>
          <a:xfrm>
            <a:off x="777240" y="2651760"/>
            <a:ext cx="2788920"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6"/>
                </a:solidFill>
              </a:rPr>
              <a:t>The architect</a:t>
            </a:r>
            <a:endParaRPr lang="en-US" sz="1400" dirty="0"/>
          </a:p>
        </p:txBody>
      </p:sp>
      <p:sp>
        <p:nvSpPr>
          <p:cNvPr id="7" name="Text 5"/>
          <p:cNvSpPr txBox="1"/>
          <p:nvPr/>
        </p:nvSpPr>
        <p:spPr>
          <a:xfrm>
            <a:off x="777240" y="3063240"/>
            <a:ext cx="2788920" cy="2377440"/>
          </a:xfrm>
          <a:prstGeom prst="rect">
            <a:avLst/>
          </a:prstGeom>
          <a:noFill/>
          <a:ln/>
        </p:spPr>
        <p:txBody>
          <a:bodyPr wrap="square" lIns="0" tIns="0" rIns="0" bIns="0" rtlCol="0" anchor="t"/>
          <a:lstStyle/>
          <a:p>
            <a:pPr algn="l" marL="177800" indent="-177800">
              <a:lnSpc>
                <a:spcPct val="100000"/>
              </a:lnSpc>
              <a:spcAft>
                <a:spcPts val="700"/>
              </a:spcAft>
              <a:buSzPct val="100000"/>
              <a:buChar char="•"/>
            </a:pPr>
            <a:r>
              <a:rPr lang="en-US" sz="1400" dirty="0">
                <a:solidFill>
                  <a:schemeClr val="bg1"/>
                </a:solidFill>
              </a:rPr>
              <a:t>Four plan drafts from a proven layout</a:t>
            </a:r>
            <a:endParaRPr lang="en-US" sz="1400" dirty="0"/>
          </a:p>
          <a:p>
            <a:pPr algn="l" marL="177800" indent="-177800">
              <a:lnSpc>
                <a:spcPct val="100000"/>
              </a:lnSpc>
              <a:spcAft>
                <a:spcPts val="700"/>
              </a:spcAft>
              <a:buSzPct val="100000"/>
              <a:buChar char="•"/>
            </a:pPr>
            <a:r>
              <a:rPr lang="en-US" sz="1400" dirty="0">
                <a:solidFill>
                  <a:schemeClr val="bg1"/>
                </a:solidFill>
              </a:rPr>
              <a:t>Two fixer agents: check_edits, apply_edits</a:t>
            </a:r>
            <a:endParaRPr lang="en-US" sz="1400" dirty="0"/>
          </a:p>
          <a:p>
            <a:pPr algn="l" marL="177800" indent="-177800">
              <a:lnSpc>
                <a:spcPct val="100000"/>
              </a:lnSpc>
              <a:spcAft>
                <a:spcPts val="700"/>
              </a:spcAft>
              <a:buSzPct val="100000"/>
              <a:buChar char="•"/>
            </a:pPr>
            <a:r>
              <a:rPr lang="en-US" sz="1400" dirty="0">
                <a:solidFill>
                  <a:schemeClr val="bg1"/>
                </a:solidFill>
              </a:rPr>
              <a:t>The 3D model, written as code</a:t>
            </a:r>
            <a:endParaRPr lang="en-US" sz="1400" dirty="0"/>
          </a:p>
          <a:p>
            <a:pPr algn="l" marL="177800" indent="-177800">
              <a:lnSpc>
                <a:spcPct val="100000"/>
              </a:lnSpc>
              <a:spcAft>
                <a:spcPts val="700"/>
              </a:spcAft>
              <a:buSzPct val="100000"/>
              <a:buChar char="•"/>
            </a:pPr>
            <a:r>
              <a:rPr lang="en-US" sz="1400" dirty="0">
                <a:solidFill>
                  <a:schemeClr val="bg1"/>
                </a:solidFill>
              </a:rPr>
              <a:t>Rule packs from web pages</a:t>
            </a:r>
            <a:endParaRPr lang="en-US" sz="1400" dirty="0"/>
          </a:p>
          <a:p>
            <a:pPr algn="l" marL="177800" indent="-177800">
              <a:lnSpc>
                <a:spcPct val="100000"/>
              </a:lnSpc>
              <a:spcAft>
                <a:spcPts val="700"/>
              </a:spcAft>
              <a:buSzPct val="100000"/>
              <a:buChar char="•"/>
            </a:pPr>
            <a:r>
              <a:rPr lang="en-US" sz="1400" dirty="0">
                <a:solidFill>
                  <a:schemeClr val="bg1"/>
                </a:solidFill>
              </a:rPr>
              <a:t>Facade refits</a:t>
            </a:r>
            <a:endParaRPr lang="en-US" sz="1400" dirty="0"/>
          </a:p>
          <a:p>
            <a:pPr algn="l" marL="177800" indent="-177800">
              <a:lnSpc>
                <a:spcPct val="100000"/>
              </a:lnSpc>
              <a:spcAft>
                <a:spcPts val="700"/>
              </a:spcAft>
              <a:buSzPct val="100000"/>
              <a:buChar char="•"/>
            </a:pPr>
            <a:r>
              <a:rPr lang="en-US" sz="1400" dirty="0">
                <a:solidFill>
                  <a:schemeClr val="bg1"/>
                </a:solidFill>
              </a:rPr>
              <a:t>Revision agent (Google ADK, 9 tools)</a:t>
            </a:r>
            <a:endParaRPr lang="en-US" sz="1400" dirty="0"/>
          </a:p>
        </p:txBody>
      </p:sp>
      <p:sp>
        <p:nvSpPr>
          <p:cNvPr id="8" name="Model card Nemotron 3 Super"/>
          <p:cNvSpPr/>
          <p:nvPr/>
        </p:nvSpPr>
        <p:spPr>
          <a:xfrm>
            <a:off x="3978554" y="1691640"/>
            <a:ext cx="2487168" cy="3931920"/>
          </a:xfrm>
          <a:prstGeom prst="roundRect">
            <a:avLst>
              <a:gd name="adj" fmla="val 4412"/>
            </a:avLst>
          </a:prstGeom>
          <a:solidFill>
            <a:schemeClr val="bg1">
              <a:alpha val="8000"/>
            </a:schemeClr>
          </a:solidFill>
          <a:ln/>
        </p:spPr>
      </p:sp>
      <p:sp>
        <p:nvSpPr>
          <p:cNvPr id="9" name="Text 7"/>
          <p:cNvSpPr txBox="1"/>
          <p:nvPr/>
        </p:nvSpPr>
        <p:spPr>
          <a:xfrm>
            <a:off x="4207154" y="1920240"/>
            <a:ext cx="2029968" cy="731520"/>
          </a:xfrm>
          <a:prstGeom prst="rect">
            <a:avLst/>
          </a:prstGeom>
          <a:noFill/>
          <a:ln/>
        </p:spPr>
        <p:txBody>
          <a:bodyPr wrap="square" lIns="0" tIns="0" rIns="0" bIns="0" rtlCol="0" anchor="t"/>
          <a:lstStyle/>
          <a:p>
            <a:pPr algn="l" indent="0" marL="0">
              <a:lnSpc>
                <a:spcPct val="100000"/>
              </a:lnSpc>
              <a:buNone/>
            </a:pPr>
            <a:r>
              <a:rPr lang="en-US" sz="2000" b="1" dirty="0">
                <a:solidFill>
                  <a:schemeClr val="accent2"/>
                </a:solidFill>
              </a:rPr>
              <a:t>Nemotron 3 Super</a:t>
            </a:r>
            <a:endParaRPr lang="en-US" sz="2000" dirty="0"/>
          </a:p>
        </p:txBody>
      </p:sp>
      <p:sp>
        <p:nvSpPr>
          <p:cNvPr id="10" name="Text 8"/>
          <p:cNvSpPr txBox="1"/>
          <p:nvPr/>
        </p:nvSpPr>
        <p:spPr>
          <a:xfrm>
            <a:off x="4207154" y="2651760"/>
            <a:ext cx="2029968"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6"/>
                </a:solidFill>
              </a:rPr>
              <a:t>The conversation</a:t>
            </a:r>
            <a:endParaRPr lang="en-US" sz="1400" dirty="0"/>
          </a:p>
        </p:txBody>
      </p:sp>
      <p:sp>
        <p:nvSpPr>
          <p:cNvPr id="11" name="Text 9"/>
          <p:cNvSpPr txBox="1"/>
          <p:nvPr/>
        </p:nvSpPr>
        <p:spPr>
          <a:xfrm>
            <a:off x="4207154" y="3063240"/>
            <a:ext cx="2029968" cy="2377440"/>
          </a:xfrm>
          <a:prstGeom prst="rect">
            <a:avLst/>
          </a:prstGeom>
          <a:noFill/>
          <a:ln/>
        </p:spPr>
        <p:txBody>
          <a:bodyPr wrap="square" lIns="0" tIns="0" rIns="0" bIns="0" rtlCol="0" anchor="t"/>
          <a:lstStyle/>
          <a:p>
            <a:pPr algn="l" marL="177800" indent="-177800">
              <a:lnSpc>
                <a:spcPct val="100000"/>
              </a:lnSpc>
              <a:spcAft>
                <a:spcPts val="700"/>
              </a:spcAft>
              <a:buSzPct val="100000"/>
              <a:buChar char="•"/>
            </a:pPr>
            <a:r>
              <a:rPr lang="en-US" sz="1400" dirty="0">
                <a:solidFill>
                  <a:schemeClr val="bg1"/>
                </a:solidFill>
              </a:rPr>
              <a:t>Setup agent (Google ADK, 6 tools)</a:t>
            </a:r>
            <a:endParaRPr lang="en-US" sz="1400" dirty="0"/>
          </a:p>
          <a:p>
            <a:pPr algn="l" marL="177800" indent="-177800">
              <a:lnSpc>
                <a:spcPct val="100000"/>
              </a:lnSpc>
              <a:spcAft>
                <a:spcPts val="700"/>
              </a:spcAft>
              <a:buSzPct val="100000"/>
              <a:buChar char="•"/>
            </a:pPr>
            <a:r>
              <a:rPr lang="en-US" sz="1400" dirty="0">
                <a:solidFill>
                  <a:schemeClr val="bg1"/>
                </a:solidFill>
              </a:rPr>
              <a:t>Records the brief and asks only what's missing</a:t>
            </a:r>
            <a:endParaRPr lang="en-US" sz="1400" dirty="0"/>
          </a:p>
        </p:txBody>
      </p:sp>
      <p:sp>
        <p:nvSpPr>
          <p:cNvPr id="12" name="Model card Nemotron 3.5 Super VL"/>
          <p:cNvSpPr/>
          <p:nvPr/>
        </p:nvSpPr>
        <p:spPr>
          <a:xfrm>
            <a:off x="6649517" y="1691640"/>
            <a:ext cx="2487168" cy="3931920"/>
          </a:xfrm>
          <a:prstGeom prst="roundRect">
            <a:avLst>
              <a:gd name="adj" fmla="val 4412"/>
            </a:avLst>
          </a:prstGeom>
          <a:solidFill>
            <a:schemeClr val="bg1">
              <a:alpha val="8000"/>
            </a:schemeClr>
          </a:solidFill>
          <a:ln/>
        </p:spPr>
      </p:sp>
      <p:sp>
        <p:nvSpPr>
          <p:cNvPr id="13" name="Text 11"/>
          <p:cNvSpPr txBox="1"/>
          <p:nvPr/>
        </p:nvSpPr>
        <p:spPr>
          <a:xfrm>
            <a:off x="6878117" y="1920240"/>
            <a:ext cx="2029968" cy="731520"/>
          </a:xfrm>
          <a:prstGeom prst="rect">
            <a:avLst/>
          </a:prstGeom>
          <a:noFill/>
          <a:ln/>
        </p:spPr>
        <p:txBody>
          <a:bodyPr wrap="square" lIns="0" tIns="0" rIns="0" bIns="0" rtlCol="0" anchor="t"/>
          <a:lstStyle/>
          <a:p>
            <a:pPr algn="l" indent="0" marL="0">
              <a:lnSpc>
                <a:spcPct val="100000"/>
              </a:lnSpc>
              <a:buNone/>
            </a:pPr>
            <a:r>
              <a:rPr lang="en-US" sz="2000" b="1" dirty="0">
                <a:solidFill>
                  <a:schemeClr val="accent2"/>
                </a:solidFill>
              </a:rPr>
              <a:t>Nemotron 3.5 Super VL</a:t>
            </a:r>
            <a:endParaRPr lang="en-US" sz="2000" dirty="0"/>
          </a:p>
        </p:txBody>
      </p:sp>
      <p:sp>
        <p:nvSpPr>
          <p:cNvPr id="14" name="Text 12"/>
          <p:cNvSpPr txBox="1"/>
          <p:nvPr/>
        </p:nvSpPr>
        <p:spPr>
          <a:xfrm>
            <a:off x="6878117" y="2651760"/>
            <a:ext cx="2029968"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6"/>
                </a:solidFill>
              </a:rPr>
              <a:t>The eyes</a:t>
            </a:r>
            <a:endParaRPr lang="en-US" sz="1400" dirty="0"/>
          </a:p>
        </p:txBody>
      </p:sp>
      <p:sp>
        <p:nvSpPr>
          <p:cNvPr id="15" name="Text 13"/>
          <p:cNvSpPr txBox="1"/>
          <p:nvPr/>
        </p:nvSpPr>
        <p:spPr>
          <a:xfrm>
            <a:off x="6878117" y="3063240"/>
            <a:ext cx="2029968" cy="2377440"/>
          </a:xfrm>
          <a:prstGeom prst="rect">
            <a:avLst/>
          </a:prstGeom>
          <a:noFill/>
          <a:ln/>
        </p:spPr>
        <p:txBody>
          <a:bodyPr wrap="square" lIns="0" tIns="0" rIns="0" bIns="0" rtlCol="0" anchor="t"/>
          <a:lstStyle/>
          <a:p>
            <a:pPr algn="l" marL="177800" indent="-177800">
              <a:lnSpc>
                <a:spcPct val="100000"/>
              </a:lnSpc>
              <a:spcAft>
                <a:spcPts val="700"/>
              </a:spcAft>
              <a:buSzPct val="100000"/>
              <a:buChar char="•"/>
            </a:pPr>
            <a:r>
              <a:rPr lang="en-US" sz="1400" dirty="0">
                <a:solidFill>
                  <a:schemeClr val="bg1"/>
                </a:solidFill>
              </a:rPr>
              <a:t>Reads uploaded drawings</a:t>
            </a:r>
            <a:endParaRPr lang="en-US" sz="1400" dirty="0"/>
          </a:p>
          <a:p>
            <a:pPr algn="l" marL="177800" indent="-177800">
              <a:lnSpc>
                <a:spcPct val="100000"/>
              </a:lnSpc>
              <a:spcAft>
                <a:spcPts val="700"/>
              </a:spcAft>
              <a:buSzPct val="100000"/>
              <a:buChar char="•"/>
            </a:pPr>
            <a:r>
              <a:rPr lang="en-US" sz="1400" dirty="0">
                <a:solidFill>
                  <a:schemeClr val="bg1"/>
                </a:solidFill>
              </a:rPr>
              <a:t>Builds the concept feature checklist</a:t>
            </a:r>
            <a:endParaRPr lang="en-US" sz="1400" dirty="0"/>
          </a:p>
          <a:p>
            <a:pPr algn="l" marL="177800" indent="-177800">
              <a:lnSpc>
                <a:spcPct val="100000"/>
              </a:lnSpc>
              <a:spcAft>
                <a:spcPts val="700"/>
              </a:spcAft>
              <a:buSzPct val="100000"/>
              <a:buChar char="•"/>
            </a:pPr>
            <a:r>
              <a:rPr lang="en-US" sz="1400" dirty="0">
                <a:solidFill>
                  <a:schemeClr val="bg1"/>
                </a:solidFill>
              </a:rPr>
              <a:t>Checks the 3D model against the concept</a:t>
            </a:r>
            <a:endParaRPr lang="en-US" sz="1400" dirty="0"/>
          </a:p>
          <a:p>
            <a:pPr algn="l" marL="177800" indent="-177800">
              <a:lnSpc>
                <a:spcPct val="100000"/>
              </a:lnSpc>
              <a:spcAft>
                <a:spcPts val="700"/>
              </a:spcAft>
              <a:buSzPct val="100000"/>
              <a:buChar char="•"/>
            </a:pPr>
            <a:r>
              <a:rPr lang="en-US" sz="1400" dirty="0">
                <a:solidFill>
                  <a:schemeClr val="bg1"/>
                </a:solidFill>
              </a:rPr>
              <a:t>Reviews its own plan drawings</a:t>
            </a:r>
            <a:endParaRPr lang="en-US" sz="1400" dirty="0"/>
          </a:p>
        </p:txBody>
      </p:sp>
      <p:sp>
        <p:nvSpPr>
          <p:cNvPr id="16" name="Model card Nemotron 3.5 Lightning"/>
          <p:cNvSpPr/>
          <p:nvPr/>
        </p:nvSpPr>
        <p:spPr>
          <a:xfrm>
            <a:off x="9320479" y="1691640"/>
            <a:ext cx="2322576" cy="3931920"/>
          </a:xfrm>
          <a:prstGeom prst="roundRect">
            <a:avLst>
              <a:gd name="adj" fmla="val 4724"/>
            </a:avLst>
          </a:prstGeom>
          <a:solidFill>
            <a:schemeClr val="bg1">
              <a:alpha val="8000"/>
            </a:schemeClr>
          </a:solidFill>
          <a:ln/>
        </p:spPr>
      </p:sp>
      <p:sp>
        <p:nvSpPr>
          <p:cNvPr id="17" name="Text 15"/>
          <p:cNvSpPr txBox="1"/>
          <p:nvPr/>
        </p:nvSpPr>
        <p:spPr>
          <a:xfrm>
            <a:off x="9549079" y="1920240"/>
            <a:ext cx="1865376" cy="731520"/>
          </a:xfrm>
          <a:prstGeom prst="rect">
            <a:avLst/>
          </a:prstGeom>
          <a:noFill/>
          <a:ln/>
        </p:spPr>
        <p:txBody>
          <a:bodyPr wrap="square" lIns="0" tIns="0" rIns="0" bIns="0" rtlCol="0" anchor="t"/>
          <a:lstStyle/>
          <a:p>
            <a:pPr algn="l" indent="0" marL="0">
              <a:lnSpc>
                <a:spcPct val="100000"/>
              </a:lnSpc>
              <a:buNone/>
            </a:pPr>
            <a:r>
              <a:rPr lang="en-US" sz="2000" b="1" dirty="0">
                <a:solidFill>
                  <a:schemeClr val="accent2"/>
                </a:solidFill>
              </a:rPr>
              <a:t>Nemotron 3.5 Lightning</a:t>
            </a:r>
            <a:endParaRPr lang="en-US" sz="2000" dirty="0"/>
          </a:p>
        </p:txBody>
      </p:sp>
      <p:sp>
        <p:nvSpPr>
          <p:cNvPr id="18" name="Text 16"/>
          <p:cNvSpPr txBox="1"/>
          <p:nvPr/>
        </p:nvSpPr>
        <p:spPr>
          <a:xfrm>
            <a:off x="9549079" y="2651760"/>
            <a:ext cx="1865376"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6"/>
                </a:solidFill>
              </a:rPr>
              <a:t>The fallback</a:t>
            </a:r>
            <a:endParaRPr lang="en-US" sz="1400" dirty="0"/>
          </a:p>
        </p:txBody>
      </p:sp>
      <p:sp>
        <p:nvSpPr>
          <p:cNvPr id="19" name="Text 17"/>
          <p:cNvSpPr txBox="1"/>
          <p:nvPr/>
        </p:nvSpPr>
        <p:spPr>
          <a:xfrm>
            <a:off x="9549079" y="3063240"/>
            <a:ext cx="1865376" cy="2377440"/>
          </a:xfrm>
          <a:prstGeom prst="rect">
            <a:avLst/>
          </a:prstGeom>
          <a:noFill/>
          <a:ln/>
        </p:spPr>
        <p:txBody>
          <a:bodyPr wrap="square" lIns="0" tIns="0" rIns="0" bIns="0" rtlCol="0" anchor="t"/>
          <a:lstStyle/>
          <a:p>
            <a:pPr algn="l" marL="177800" indent="-177800">
              <a:lnSpc>
                <a:spcPct val="100000"/>
              </a:lnSpc>
              <a:spcAft>
                <a:spcPts val="700"/>
              </a:spcAft>
              <a:buSzPct val="100000"/>
              <a:buChar char="•"/>
            </a:pPr>
            <a:r>
              <a:rPr lang="en-US" sz="1400" dirty="0">
                <a:solidFill>
                  <a:schemeClr val="bg1"/>
                </a:solidFill>
              </a:rPr>
              <a:t>Takes over when a model is busy</a:t>
            </a:r>
            <a:endParaRPr lang="en-US" sz="1400" dirty="0"/>
          </a:p>
          <a:p>
            <a:pPr algn="l" marL="177800" indent="-177800">
              <a:lnSpc>
                <a:spcPct val="100000"/>
              </a:lnSpc>
              <a:spcAft>
                <a:spcPts val="700"/>
              </a:spcAft>
              <a:buSzPct val="100000"/>
              <a:buChar char="•"/>
            </a:pPr>
            <a:r>
              <a:rPr lang="en-US" sz="1400" dirty="0">
                <a:solidFill>
                  <a:schemeClr val="bg1"/>
                </a:solidFill>
              </a:rPr>
              <a:t>Ultra → Super → Lightning</a:t>
            </a:r>
            <a:endParaRPr lang="en-US" sz="1400" dirty="0"/>
          </a:p>
        </p:txBody>
      </p:sp>
      <p:sp>
        <p:nvSpPr>
          <p:cNvPr id="20" name="Text 18"/>
          <p:cNvSpPr txBox="1"/>
          <p:nvPr/>
        </p:nvSpPr>
        <p:spPr>
          <a:xfrm>
            <a:off x="548640" y="5760720"/>
            <a:ext cx="11094415" cy="411480"/>
          </a:xfrm>
          <a:prstGeom prst="rect">
            <a:avLst/>
          </a:prstGeom>
          <a:noFill/>
          <a:ln/>
        </p:spPr>
        <p:txBody>
          <a:bodyPr wrap="square" lIns="0" tIns="0" rIns="0" bIns="0" rtlCol="0" anchor="ctr"/>
          <a:lstStyle/>
          <a:p>
            <a:pPr algn="l" indent="0" marL="0">
              <a:lnSpc>
                <a:spcPct val="100000"/>
              </a:lnSpc>
              <a:buNone/>
            </a:pPr>
            <a:r>
              <a:rPr lang="en-US" sz="1400" b="1" dirty="0">
                <a:solidFill>
                  <a:schemeClr val="bg1"/>
                </a:solidFill>
              </a:rPr>
              <a:t>Outside Token Factory: </a:t>
            </a:r>
            <a:pPr algn="l" indent="0" marL="0">
              <a:lnSpc>
                <a:spcPct val="100000"/>
              </a:lnSpc>
              <a:buNone/>
            </a:pPr>
            <a:r>
              <a:rPr lang="en-US" sz="1400" dirty="0">
                <a:solidFill>
                  <a:schemeClr val="accent6"/>
                </a:solidFill>
              </a:rPr>
              <a:t>Tavily for web research, and Gemini image models for the concepts and photos.</a:t>
            </a:r>
            <a:endParaRPr lang="en-US" sz="14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A3A3A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Rules for any city</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Building rules for any city, with sources</a:t>
            </a:r>
            <a:endParaRPr lang="en-US" sz="3200" dirty="0"/>
          </a:p>
        </p:txBody>
      </p:sp>
      <p:pic>
        <p:nvPicPr>
          <p:cNvPr id="4" name="rules-chat.jpg" descr="The Islamabad brief in the chat, with the rules it guarantees">    </p:cNvPr>
          <p:cNvPicPr>
            <a:picLocks noChangeAspect="1"/>
          </p:cNvPicPr>
          <p:nvPr/>
        </p:nvPicPr>
        <p:blipFill>
          <a:blip r:embed="rId1"/>
          <a:stretch>
            <a:fillRect/>
          </a:stretch>
        </p:blipFill>
        <p:spPr>
          <a:xfrm>
            <a:off x="548640" y="1691640"/>
            <a:ext cx="1882276" cy="3977640"/>
          </a:xfrm>
          <a:prstGeom prst="rect">
            <a:avLst/>
          </a:prstGeom>
        </p:spPr>
      </p:pic>
      <p:pic>
        <p:nvPicPr>
          <p:cNvPr id="5" name="rules-brief.jpg" descr="What CDA lets you build, with the cited source">    </p:cNvPr>
          <p:cNvPicPr>
            <a:picLocks noChangeAspect="1"/>
          </p:cNvPicPr>
          <p:nvPr/>
        </p:nvPicPr>
        <p:blipFill>
          <a:blip r:embed="rId2"/>
          <a:stretch>
            <a:fillRect/>
          </a:stretch>
        </p:blipFill>
        <p:spPr>
          <a:xfrm>
            <a:off x="2659516" y="1691640"/>
            <a:ext cx="1754841" cy="3977640"/>
          </a:xfrm>
          <a:prstGeom prst="rect">
            <a:avLst/>
          </a:prstGeom>
        </p:spPr>
      </p:pic>
      <p:sp>
        <p:nvSpPr>
          <p:cNvPr id="6" name="Text 2"/>
          <p:cNvSpPr txBox="1"/>
          <p:nvPr/>
        </p:nvSpPr>
        <p:spPr>
          <a:xfrm>
            <a:off x="548640" y="5806440"/>
            <a:ext cx="3865717"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3"/>
                </a:solidFill>
              </a:rPr>
              <a:t>The Islamabad demo, in the live app</a:t>
            </a:r>
            <a:endParaRPr lang="en-US" sz="1400" dirty="0"/>
          </a:p>
        </p:txBody>
      </p:sp>
      <p:sp>
        <p:nvSpPr>
          <p:cNvPr id="7" name="Step 1"/>
          <p:cNvSpPr txBox="1"/>
          <p:nvPr/>
        </p:nvSpPr>
        <p:spPr>
          <a:xfrm>
            <a:off x="4962997" y="169164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4"/>
          <p:cNvSpPr txBox="1"/>
          <p:nvPr/>
        </p:nvSpPr>
        <p:spPr>
          <a:xfrm>
            <a:off x="5511637" y="1709928"/>
            <a:ext cx="6131418" cy="45720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A brief names a plot outside Lahore, here G-13 in Islamabad.</a:t>
            </a:r>
            <a:endParaRPr lang="en-US" sz="1700" dirty="0"/>
          </a:p>
        </p:txBody>
      </p:sp>
      <p:sp>
        <p:nvSpPr>
          <p:cNvPr id="9" name="Step 2"/>
          <p:cNvSpPr txBox="1"/>
          <p:nvPr/>
        </p:nvSpPr>
        <p:spPr>
          <a:xfrm>
            <a:off x="4962997" y="242316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6"/>
          <p:cNvSpPr txBox="1"/>
          <p:nvPr/>
        </p:nvSpPr>
        <p:spPr>
          <a:xfrm>
            <a:off x="5511637" y="2441448"/>
            <a:ext cx="6131418" cy="77724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Tavily Search finds the authority's residential rules. Tavily Extract pulls the pages, official sites first.</a:t>
            </a:r>
            <a:endParaRPr lang="en-US" sz="1700" dirty="0"/>
          </a:p>
        </p:txBody>
      </p:sp>
      <p:sp>
        <p:nvSpPr>
          <p:cNvPr id="11" name="Step 3"/>
          <p:cNvSpPr txBox="1"/>
          <p:nvPr/>
        </p:nvSpPr>
        <p:spPr>
          <a:xfrm>
            <a:off x="4962997" y="347472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8"/>
          <p:cNvSpPr txBox="1"/>
          <p:nvPr/>
        </p:nvSpPr>
        <p:spPr>
          <a:xfrm>
            <a:off x="5511637" y="3493008"/>
            <a:ext cx="6131418" cy="91440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Nemotron 3 Ultra writes a rule pack: setbacks, coverage, FAR, height and storeys by plot size, each band citing its sources.</a:t>
            </a:r>
            <a:endParaRPr lang="en-US" sz="1700" dirty="0"/>
          </a:p>
        </p:txBody>
      </p:sp>
      <p:sp>
        <p:nvSpPr>
          <p:cNvPr id="13" name="Step 4"/>
          <p:cNvSpPr txBox="1"/>
          <p:nvPr/>
        </p:nvSpPr>
        <p:spPr>
          <a:xfrm>
            <a:off x="4962997" y="466344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0"/>
          <p:cNvSpPr txBox="1"/>
          <p:nvPr/>
        </p:nvSpPr>
        <p:spPr>
          <a:xfrm>
            <a:off x="5511637" y="4681728"/>
            <a:ext cx="6131418" cy="45720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The rules engine checks the plan against that pack.</a:t>
            </a:r>
            <a:endParaRPr lang="en-US" sz="1700" dirty="0"/>
          </a:p>
        </p:txBody>
      </p:sp>
      <p:sp>
        <p:nvSpPr>
          <p:cNvPr id="15" name="LDA note"/>
          <p:cNvSpPr/>
          <p:nvPr/>
        </p:nvSpPr>
        <p:spPr>
          <a:xfrm>
            <a:off x="4962997" y="5440680"/>
            <a:ext cx="6680058" cy="685800"/>
          </a:xfrm>
          <a:prstGeom prst="roundRect">
            <a:avLst>
              <a:gd name="adj" fmla="val 16000"/>
            </a:avLst>
          </a:prstGeom>
          <a:solidFill>
            <a:schemeClr val="accent4"/>
          </a:solidFill>
          <a:ln/>
        </p:spPr>
      </p:sp>
      <p:sp>
        <p:nvSpPr>
          <p:cNvPr id="16" name="Text 12"/>
          <p:cNvSpPr txBox="1"/>
          <p:nvPr/>
        </p:nvSpPr>
        <p:spPr>
          <a:xfrm>
            <a:off x="5164165" y="5440680"/>
            <a:ext cx="6277722" cy="685800"/>
          </a:xfrm>
          <a:prstGeom prst="rect">
            <a:avLst/>
          </a:prstGeom>
          <a:noFill/>
          <a:ln/>
        </p:spPr>
        <p:txBody>
          <a:bodyPr wrap="square" lIns="0" tIns="0" rIns="0" bIns="0" rtlCol="0" anchor="ctr"/>
          <a:lstStyle/>
          <a:p>
            <a:pPr algn="l" indent="0" marL="0">
              <a:lnSpc>
                <a:spcPct val="100000"/>
              </a:lnSpc>
              <a:buNone/>
            </a:pPr>
            <a:r>
              <a:rPr lang="en-US" sz="1400" b="1" dirty="0">
                <a:solidFill>
                  <a:schemeClr val="tx1"/>
                </a:solidFill>
              </a:rPr>
              <a:t>Lahore's LDA rules ship as a hand-verified pack.</a:t>
            </a:r>
            <a:endParaRPr lang="en-US" sz="14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The house</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Built to match the concept, then photographed</a:t>
            </a:r>
            <a:endParaRPr lang="en-US" sz="3200" dirty="0"/>
          </a:p>
        </p:txBody>
      </p:sp>
      <p:pic>
        <p:nvPicPr>
          <p:cNvPr id="4" name="match-lime.jpg" descr="The match check: 93% of the concept's features are in the 3D model">    </p:cNvPr>
          <p:cNvPicPr>
            <a:picLocks noChangeAspect="1"/>
          </p:cNvPicPr>
          <p:nvPr/>
        </p:nvPicPr>
        <p:blipFill>
          <a:blip r:embed="rId1"/>
          <a:stretch>
            <a:fillRect/>
          </a:stretch>
        </p:blipFill>
        <p:spPr>
          <a:xfrm>
            <a:off x="548640" y="1691640"/>
            <a:ext cx="5989320" cy="3368993"/>
          </a:xfrm>
          <a:prstGeom prst="rect">
            <a:avLst/>
          </a:prstGeom>
        </p:spPr>
      </p:pic>
      <p:sp>
        <p:nvSpPr>
          <p:cNvPr id="5" name="Text 2"/>
          <p:cNvSpPr txBox="1"/>
          <p:nvPr/>
        </p:nvSpPr>
        <p:spPr>
          <a:xfrm>
            <a:off x="548640" y="5193792"/>
            <a:ext cx="5989320" cy="868680"/>
          </a:xfrm>
          <a:prstGeom prst="rect">
            <a:avLst/>
          </a:prstGeom>
          <a:noFill/>
          <a:ln/>
        </p:spPr>
        <p:txBody>
          <a:bodyPr wrap="square" lIns="0" tIns="0" rIns="0" bIns="0" rtlCol="0" anchor="t"/>
          <a:lstStyle/>
          <a:p>
            <a:pPr algn="l" indent="0" marL="0">
              <a:lnSpc>
                <a:spcPct val="105000"/>
              </a:lnSpc>
              <a:buNone/>
            </a:pPr>
            <a:r>
              <a:rPr lang="en-US" sz="1500" b="1" dirty="0">
                <a:solidFill>
                  <a:schemeClr val="accent1"/>
                </a:solidFill>
              </a:rPr>
              <a:t>93% of the concept is in the model, </a:t>
            </a:r>
            <a:pPr algn="l" indent="0" marL="0">
              <a:lnSpc>
                <a:spcPct val="105000"/>
              </a:lnSpc>
              <a:buNone/>
            </a:pPr>
            <a:r>
              <a:rPr lang="en-US" sz="1500" b="1" dirty="0">
                <a:solidFill>
                  <a:schemeClr val="tx1"/>
                </a:solidFill>
              </a:rPr>
              <a:t>up from 86% before the facade was rebuilt. </a:t>
            </a:r>
            <a:pPr algn="l" indent="0" marL="0">
              <a:lnSpc>
                <a:spcPct val="105000"/>
              </a:lnSpc>
              <a:buNone/>
            </a:pPr>
            <a:r>
              <a:rPr lang="en-US" sz="1500" dirty="0">
                <a:solidFill>
                  <a:schemeClr val="tx2"/>
                </a:solidFill>
              </a:rPr>
              <a:t>Nemotron VL checks feature by feature, and Ultra refits only the sections that miss.</a:t>
            </a:r>
            <a:endParaRPr lang="en-US" sz="1500" dirty="0"/>
          </a:p>
        </p:txBody>
      </p:sp>
      <p:pic>
        <p:nvPicPr>
          <p:cNvPr id="6" name="photo-front.jpg" descr="Photo from the road, made from the 3D model">    </p:cNvPr>
          <p:cNvPicPr>
            <a:picLocks noChangeAspect="1"/>
          </p:cNvPicPr>
          <p:nvPr/>
        </p:nvPicPr>
        <p:blipFill>
          <a:blip r:embed="rId2"/>
          <a:stretch>
            <a:fillRect/>
          </a:stretch>
        </p:blipFill>
        <p:spPr>
          <a:xfrm>
            <a:off x="6812280" y="1691640"/>
            <a:ext cx="2333092" cy="1302191"/>
          </a:xfrm>
          <a:prstGeom prst="rect">
            <a:avLst/>
          </a:prstGeom>
        </p:spPr>
      </p:pic>
      <p:sp>
        <p:nvSpPr>
          <p:cNvPr id="7" name="Text 3"/>
          <p:cNvSpPr txBox="1"/>
          <p:nvPr/>
        </p:nvSpPr>
        <p:spPr>
          <a:xfrm>
            <a:off x="6903720" y="2582351"/>
            <a:ext cx="676656" cy="310896"/>
          </a:xfrm>
          <a:prstGeom prst="rect">
            <a:avLst/>
          </a:prstGeom>
          <a:solidFill>
            <a:schemeClr val="tx1"/>
          </a:solidFill>
          <a:ln/>
        </p:spPr>
        <p:txBody>
          <a:bodyPr wrap="square" lIns="50800" tIns="50800" rIns="50800" bIns="50800" rtlCol="0" anchor="ctr"/>
          <a:lstStyle/>
          <a:p>
            <a:pPr algn="ctr" indent="0" marL="0">
              <a:lnSpc>
                <a:spcPct val="100000"/>
              </a:lnSpc>
              <a:buNone/>
            </a:pPr>
            <a:r>
              <a:rPr lang="en-US" sz="1400" b="1" dirty="0">
                <a:solidFill>
                  <a:schemeClr val="bg1"/>
                </a:solidFill>
              </a:rPr>
              <a:t>Road</a:t>
            </a:r>
            <a:endParaRPr lang="en-US" sz="1400" dirty="0"/>
          </a:p>
        </p:txBody>
      </p:sp>
      <p:pic>
        <p:nvPicPr>
          <p:cNvPr id="8" name="photo-corner.jpg" descr="Photo from the street corner, made from the 3D model">    </p:cNvPr>
          <p:cNvPicPr>
            <a:picLocks noChangeAspect="1"/>
          </p:cNvPicPr>
          <p:nvPr/>
        </p:nvPicPr>
        <p:blipFill>
          <a:blip r:embed="rId3"/>
          <a:stretch>
            <a:fillRect/>
          </a:stretch>
        </p:blipFill>
        <p:spPr>
          <a:xfrm>
            <a:off x="9309964" y="1691640"/>
            <a:ext cx="2333092" cy="1302191"/>
          </a:xfrm>
          <a:prstGeom prst="rect">
            <a:avLst/>
          </a:prstGeom>
        </p:spPr>
      </p:pic>
      <p:sp>
        <p:nvSpPr>
          <p:cNvPr id="9" name="Text 4"/>
          <p:cNvSpPr txBox="1"/>
          <p:nvPr/>
        </p:nvSpPr>
        <p:spPr>
          <a:xfrm>
            <a:off x="9401404" y="2582351"/>
            <a:ext cx="1581912" cy="310896"/>
          </a:xfrm>
          <a:prstGeom prst="rect">
            <a:avLst/>
          </a:prstGeom>
          <a:solidFill>
            <a:schemeClr val="tx1"/>
          </a:solidFill>
          <a:ln/>
        </p:spPr>
        <p:txBody>
          <a:bodyPr wrap="square" lIns="50800" tIns="50800" rIns="50800" bIns="50800" rtlCol="0" anchor="ctr"/>
          <a:lstStyle/>
          <a:p>
            <a:pPr algn="ctr" indent="0" marL="0">
              <a:lnSpc>
                <a:spcPct val="100000"/>
              </a:lnSpc>
              <a:buNone/>
            </a:pPr>
            <a:r>
              <a:rPr lang="en-US" sz="1400" b="1" dirty="0">
                <a:solidFill>
                  <a:schemeClr val="bg1"/>
                </a:solidFill>
              </a:rPr>
              <a:t>Street corner</a:t>
            </a:r>
            <a:endParaRPr lang="en-US" sz="1400" dirty="0"/>
          </a:p>
        </p:txBody>
      </p:sp>
      <p:pic>
        <p:nvPicPr>
          <p:cNvPr id="10" name="photo-garden.jpg" descr="Photo from the garden, made from the 3D model">    </p:cNvPr>
          <p:cNvPicPr>
            <a:picLocks noChangeAspect="1"/>
          </p:cNvPicPr>
          <p:nvPr/>
        </p:nvPicPr>
        <p:blipFill>
          <a:blip r:embed="rId4"/>
          <a:stretch>
            <a:fillRect/>
          </a:stretch>
        </p:blipFill>
        <p:spPr>
          <a:xfrm>
            <a:off x="6812280" y="3158423"/>
            <a:ext cx="2333092" cy="1302191"/>
          </a:xfrm>
          <a:prstGeom prst="rect">
            <a:avLst/>
          </a:prstGeom>
        </p:spPr>
      </p:pic>
      <p:sp>
        <p:nvSpPr>
          <p:cNvPr id="11" name="Text 5"/>
          <p:cNvSpPr txBox="1"/>
          <p:nvPr/>
        </p:nvSpPr>
        <p:spPr>
          <a:xfrm>
            <a:off x="6903720" y="4049133"/>
            <a:ext cx="877824" cy="310896"/>
          </a:xfrm>
          <a:prstGeom prst="rect">
            <a:avLst/>
          </a:prstGeom>
          <a:solidFill>
            <a:schemeClr val="tx1"/>
          </a:solidFill>
          <a:ln/>
        </p:spPr>
        <p:txBody>
          <a:bodyPr wrap="square" lIns="50800" tIns="50800" rIns="50800" bIns="50800" rtlCol="0" anchor="ctr"/>
          <a:lstStyle/>
          <a:p>
            <a:pPr algn="ctr" indent="0" marL="0">
              <a:lnSpc>
                <a:spcPct val="100000"/>
              </a:lnSpc>
              <a:buNone/>
            </a:pPr>
            <a:r>
              <a:rPr lang="en-US" sz="1400" b="1" dirty="0">
                <a:solidFill>
                  <a:schemeClr val="bg1"/>
                </a:solidFill>
              </a:rPr>
              <a:t>Garden</a:t>
            </a:r>
            <a:endParaRPr lang="en-US" sz="1400" dirty="0"/>
          </a:p>
        </p:txBody>
      </p:sp>
      <p:pic>
        <p:nvPicPr>
          <p:cNvPr id="12" name="photo-aerial.jpg" descr="Photo from the air, made from the 3D model">    </p:cNvPr>
          <p:cNvPicPr>
            <a:picLocks noChangeAspect="1"/>
          </p:cNvPicPr>
          <p:nvPr/>
        </p:nvPicPr>
        <p:blipFill>
          <a:blip r:embed="rId5"/>
          <a:stretch>
            <a:fillRect/>
          </a:stretch>
        </p:blipFill>
        <p:spPr>
          <a:xfrm>
            <a:off x="9309964" y="3158423"/>
            <a:ext cx="2333092" cy="1302191"/>
          </a:xfrm>
          <a:prstGeom prst="rect">
            <a:avLst/>
          </a:prstGeom>
        </p:spPr>
      </p:pic>
      <p:sp>
        <p:nvSpPr>
          <p:cNvPr id="13" name="Text 6"/>
          <p:cNvSpPr txBox="1"/>
          <p:nvPr/>
        </p:nvSpPr>
        <p:spPr>
          <a:xfrm>
            <a:off x="9401404" y="4049133"/>
            <a:ext cx="576072" cy="310896"/>
          </a:xfrm>
          <a:prstGeom prst="rect">
            <a:avLst/>
          </a:prstGeom>
          <a:solidFill>
            <a:schemeClr val="tx1"/>
          </a:solidFill>
          <a:ln/>
        </p:spPr>
        <p:txBody>
          <a:bodyPr wrap="square" lIns="50800" tIns="50800" rIns="50800" bIns="50800" rtlCol="0" anchor="ctr"/>
          <a:lstStyle/>
          <a:p>
            <a:pPr algn="ctr" indent="0" marL="0">
              <a:lnSpc>
                <a:spcPct val="100000"/>
              </a:lnSpc>
              <a:buNone/>
            </a:pPr>
            <a:r>
              <a:rPr lang="en-US" sz="1400" b="1" dirty="0">
                <a:solidFill>
                  <a:schemeClr val="bg1"/>
                </a:solidFill>
              </a:rPr>
              <a:t>Air</a:t>
            </a:r>
            <a:endParaRPr lang="en-US" sz="1400" dirty="0"/>
          </a:p>
        </p:txBody>
      </p:sp>
      <p:sp>
        <p:nvSpPr>
          <p:cNvPr id="14" name="Text 7"/>
          <p:cNvSpPr txBox="1"/>
          <p:nvPr/>
        </p:nvSpPr>
        <p:spPr>
          <a:xfrm>
            <a:off x="6812280" y="4625205"/>
            <a:ext cx="4830775" cy="109728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Photos from four angles. An image model turns each 3D capture into a photo without moving a wall. Every home also gets a night view and a walk-through.</a:t>
            </a:r>
            <a:endParaRPr lang="en-US" sz="15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Collaboration and revisions</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The family comments. The agent revises</a:t>
            </a:r>
            <a:endParaRPr lang="en-US" sz="3200" dirty="0"/>
          </a:p>
        </p:txBody>
      </p:sp>
      <p:sp>
        <p:nvSpPr>
          <p:cNvPr id="4" name="Step 1"/>
          <p:cNvSpPr txBox="1"/>
          <p:nvPr/>
        </p:nvSpPr>
        <p:spPr>
          <a:xfrm>
            <a:off x="548640" y="169164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691640"/>
            <a:ext cx="1829679" cy="347472"/>
          </a:xfrm>
          <a:prstGeom prst="rect">
            <a:avLst/>
          </a:prstGeom>
          <a:noFill/>
          <a:ln/>
        </p:spPr>
        <p:txBody>
          <a:bodyPr wrap="square" lIns="0" tIns="0" rIns="0" bIns="0" rtlCol="0" anchor="ctr"/>
          <a:lstStyle/>
          <a:p>
            <a:pPr algn="l" indent="0" marL="0">
              <a:lnSpc>
                <a:spcPct val="100000"/>
              </a:lnSpc>
              <a:buNone/>
            </a:pPr>
            <a:r>
              <a:rPr lang="en-US" sz="1800" b="1" dirty="0">
                <a:solidFill>
                  <a:schemeClr val="tx1"/>
                </a:solidFill>
              </a:rPr>
              <a:t>Pin a note</a:t>
            </a:r>
            <a:endParaRPr lang="en-US" sz="1800" dirty="0"/>
          </a:p>
        </p:txBody>
      </p:sp>
      <p:pic>
        <p:nvPicPr>
          <p:cNvPr id="6" name="collab-pin.jpg" descr="Pin a note in the live app">    </p:cNvPr>
          <p:cNvPicPr>
            <a:picLocks noChangeAspect="1"/>
          </p:cNvPicPr>
          <p:nvPr/>
        </p:nvPicPr>
        <p:blipFill>
          <a:blip r:embed="rId1"/>
          <a:stretch>
            <a:fillRect/>
          </a:stretch>
        </p:blipFill>
        <p:spPr>
          <a:xfrm>
            <a:off x="548640" y="2194560"/>
            <a:ext cx="2286879" cy="2331720"/>
          </a:xfrm>
          <a:prstGeom prst="rect">
            <a:avLst/>
          </a:prstGeom>
        </p:spPr>
      </p:pic>
      <p:sp>
        <p:nvSpPr>
          <p:cNvPr id="7" name="Text 4"/>
          <p:cNvSpPr txBox="1"/>
          <p:nvPr/>
        </p:nvSpPr>
        <p:spPr>
          <a:xfrm>
            <a:off x="548640" y="4636008"/>
            <a:ext cx="2286879" cy="54864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The owner pins one on the front window.</a:t>
            </a:r>
            <a:endParaRPr lang="en-US" sz="1400" dirty="0"/>
          </a:p>
        </p:txBody>
      </p:sp>
      <p:sp>
        <p:nvSpPr>
          <p:cNvPr id="8" name="Step 2"/>
          <p:cNvSpPr txBox="1"/>
          <p:nvPr/>
        </p:nvSpPr>
        <p:spPr>
          <a:xfrm>
            <a:off x="3190521" y="169164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3647721" y="1691640"/>
            <a:ext cx="2193597" cy="347472"/>
          </a:xfrm>
          <a:prstGeom prst="rect">
            <a:avLst/>
          </a:prstGeom>
          <a:noFill/>
          <a:ln/>
        </p:spPr>
        <p:txBody>
          <a:bodyPr wrap="square" lIns="0" tIns="0" rIns="0" bIns="0" rtlCol="0" anchor="ctr"/>
          <a:lstStyle/>
          <a:p>
            <a:pPr algn="l" indent="0" marL="0">
              <a:lnSpc>
                <a:spcPct val="100000"/>
              </a:lnSpc>
              <a:buNone/>
            </a:pPr>
            <a:r>
              <a:rPr lang="en-US" sz="1800" b="1" dirty="0">
                <a:solidFill>
                  <a:schemeClr val="tx1"/>
                </a:solidFill>
              </a:rPr>
              <a:t>Share a link</a:t>
            </a:r>
            <a:endParaRPr lang="en-US" sz="1800" dirty="0"/>
          </a:p>
        </p:txBody>
      </p:sp>
      <p:pic>
        <p:nvPicPr>
          <p:cNvPr id="10" name="collab-share.jpg" descr="Share a link in the live app">    </p:cNvPr>
          <p:cNvPicPr>
            <a:picLocks noChangeAspect="1"/>
          </p:cNvPicPr>
          <p:nvPr/>
        </p:nvPicPr>
        <p:blipFill>
          <a:blip r:embed="rId2"/>
          <a:stretch>
            <a:fillRect/>
          </a:stretch>
        </p:blipFill>
        <p:spPr>
          <a:xfrm>
            <a:off x="3190521" y="2194560"/>
            <a:ext cx="2650797" cy="2331720"/>
          </a:xfrm>
          <a:prstGeom prst="rect">
            <a:avLst/>
          </a:prstGeom>
        </p:spPr>
      </p:pic>
      <p:sp>
        <p:nvSpPr>
          <p:cNvPr id="11" name="Text 7"/>
          <p:cNvSpPr txBox="1"/>
          <p:nvPr/>
        </p:nvSpPr>
        <p:spPr>
          <a:xfrm>
            <a:off x="3190521" y="4636008"/>
            <a:ext cx="2650797" cy="54864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The family comments without an account.</a:t>
            </a:r>
            <a:endParaRPr lang="en-US" sz="1400" dirty="0"/>
          </a:p>
        </p:txBody>
      </p:sp>
      <p:sp>
        <p:nvSpPr>
          <p:cNvPr id="12" name="Step 3"/>
          <p:cNvSpPr txBox="1"/>
          <p:nvPr/>
        </p:nvSpPr>
        <p:spPr>
          <a:xfrm>
            <a:off x="6196321" y="169164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9"/>
          <p:cNvSpPr txBox="1"/>
          <p:nvPr/>
        </p:nvSpPr>
        <p:spPr>
          <a:xfrm>
            <a:off x="6653521" y="1691640"/>
            <a:ext cx="1571292" cy="347472"/>
          </a:xfrm>
          <a:prstGeom prst="rect">
            <a:avLst/>
          </a:prstGeom>
          <a:noFill/>
          <a:ln/>
        </p:spPr>
        <p:txBody>
          <a:bodyPr wrap="square" lIns="0" tIns="0" rIns="0" bIns="0" rtlCol="0" anchor="ctr"/>
          <a:lstStyle/>
          <a:p>
            <a:pPr algn="l" indent="0" marL="0">
              <a:lnSpc>
                <a:spcPct val="100000"/>
              </a:lnSpc>
              <a:buNone/>
            </a:pPr>
            <a:r>
              <a:rPr lang="en-US" sz="1800" b="1" dirty="0">
                <a:solidFill>
                  <a:schemeClr val="tx1"/>
                </a:solidFill>
              </a:rPr>
              <a:t>Ammi asks</a:t>
            </a:r>
            <a:endParaRPr lang="en-US" sz="1800" dirty="0"/>
          </a:p>
        </p:txBody>
      </p:sp>
      <p:pic>
        <p:nvPicPr>
          <p:cNvPr id="14" name="collab-client.jpg" descr="Ammi asks in the live app">    </p:cNvPr>
          <p:cNvPicPr>
            <a:picLocks noChangeAspect="1"/>
          </p:cNvPicPr>
          <p:nvPr/>
        </p:nvPicPr>
        <p:blipFill>
          <a:blip r:embed="rId3"/>
          <a:stretch>
            <a:fillRect/>
          </a:stretch>
        </p:blipFill>
        <p:spPr>
          <a:xfrm>
            <a:off x="6196321" y="2194560"/>
            <a:ext cx="2028492" cy="2331720"/>
          </a:xfrm>
          <a:prstGeom prst="rect">
            <a:avLst/>
          </a:prstGeom>
        </p:spPr>
      </p:pic>
      <p:sp>
        <p:nvSpPr>
          <p:cNvPr id="15" name="Text 10"/>
          <p:cNvSpPr txBox="1"/>
          <p:nvPr/>
        </p:nvSpPr>
        <p:spPr>
          <a:xfrm>
            <a:off x="6196321" y="4636008"/>
            <a:ext cx="2028492" cy="54864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The client wants a bigger kitchen.</a:t>
            </a:r>
            <a:endParaRPr lang="en-US" sz="1400" dirty="0"/>
          </a:p>
        </p:txBody>
      </p:sp>
      <p:sp>
        <p:nvSpPr>
          <p:cNvPr id="16" name="Step 4"/>
          <p:cNvSpPr txBox="1"/>
          <p:nvPr/>
        </p:nvSpPr>
        <p:spPr>
          <a:xfrm>
            <a:off x="8579815" y="1691640"/>
            <a:ext cx="347472" cy="34747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2"/>
          <p:cNvSpPr txBox="1"/>
          <p:nvPr/>
        </p:nvSpPr>
        <p:spPr>
          <a:xfrm>
            <a:off x="9037015" y="1691640"/>
            <a:ext cx="2606040" cy="347472"/>
          </a:xfrm>
          <a:prstGeom prst="rect">
            <a:avLst/>
          </a:prstGeom>
          <a:noFill/>
          <a:ln/>
        </p:spPr>
        <p:txBody>
          <a:bodyPr wrap="square" lIns="0" tIns="0" rIns="0" bIns="0" rtlCol="0" anchor="ctr"/>
          <a:lstStyle/>
          <a:p>
            <a:pPr algn="l" indent="0" marL="0">
              <a:lnSpc>
                <a:spcPct val="100000"/>
              </a:lnSpc>
              <a:buNone/>
            </a:pPr>
            <a:r>
              <a:rPr lang="en-US" sz="1800" b="1" dirty="0">
                <a:solidFill>
                  <a:schemeClr val="tx1"/>
                </a:solidFill>
              </a:rPr>
              <a:t>Revise</a:t>
            </a:r>
            <a:endParaRPr lang="en-US" sz="1800" dirty="0"/>
          </a:p>
        </p:txBody>
      </p:sp>
      <p:pic>
        <p:nvPicPr>
          <p:cNvPr id="18" name="collab-revise.jpg" descr="The revision agent's answer: both changes made, version 2 ready">    </p:cNvPr>
          <p:cNvPicPr>
            <a:picLocks noChangeAspect="1"/>
          </p:cNvPicPr>
          <p:nvPr/>
        </p:nvPicPr>
        <p:blipFill>
          <a:blip r:embed="rId4"/>
          <a:stretch>
            <a:fillRect/>
          </a:stretch>
        </p:blipFill>
        <p:spPr>
          <a:xfrm>
            <a:off x="8579815" y="2194560"/>
            <a:ext cx="3063240" cy="1300932"/>
          </a:xfrm>
          <a:prstGeom prst="rect">
            <a:avLst/>
          </a:prstGeom>
        </p:spPr>
      </p:pic>
      <p:sp>
        <p:nvSpPr>
          <p:cNvPr id="19" name="Text 13"/>
          <p:cNvSpPr txBox="1"/>
          <p:nvPr/>
        </p:nvSpPr>
        <p:spPr>
          <a:xfrm>
            <a:off x="8579815" y="3632652"/>
            <a:ext cx="3063240" cy="96012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The revision agent applied both notes: a wider front window, and a kitchen island, a longer counter and a table for six.</a:t>
            </a:r>
            <a:endParaRPr lang="en-US" sz="1400" dirty="0"/>
          </a:p>
        </p:txBody>
      </p:sp>
      <p:sp>
        <p:nvSpPr>
          <p:cNvPr id="20" name="Refusal note"/>
          <p:cNvSpPr/>
          <p:nvPr/>
        </p:nvSpPr>
        <p:spPr>
          <a:xfrm>
            <a:off x="548640" y="5349240"/>
            <a:ext cx="5410048" cy="777240"/>
          </a:xfrm>
          <a:prstGeom prst="roundRect">
            <a:avLst>
              <a:gd name="adj" fmla="val 14118"/>
            </a:avLst>
          </a:prstGeom>
          <a:solidFill>
            <a:schemeClr val="bg1"/>
          </a:solidFill>
          <a:ln/>
          <a:effectLst>
            <a:outerShdw sx="100000" sy="100000" kx="0" ky="0" algn="bl" rotWithShape="0" blurRad="127000" dist="25400" dir="5400000">
              <a:srgbClr val="000000">
                <a:alpha val="7000"/>
              </a:srgbClr>
            </a:outerShdw>
          </a:effectLst>
        </p:spPr>
      </p:sp>
      <p:sp>
        <p:nvSpPr>
          <p:cNvPr id="21" name="Icon circle LuShieldCheck"/>
          <p:cNvSpPr/>
          <p:nvPr/>
        </p:nvSpPr>
        <p:spPr>
          <a:xfrm>
            <a:off x="731520" y="5468112"/>
            <a:ext cx="530352" cy="530352"/>
          </a:xfrm>
          <a:prstGeom prst="ellipse">
            <a:avLst/>
          </a:prstGeom>
          <a:solidFill>
            <a:schemeClr val="accent4"/>
          </a:solidFill>
          <a:ln/>
        </p:spPr>
      </p:sp>
      <p:pic>
        <p:nvPicPr>
          <p:cNvPr id="22" name="Icon LuShieldCheck" descr="preencoded.png">    </p:cNvPr>
          <p:cNvPicPr>
            <a:picLocks noChangeAspect="1"/>
          </p:cNvPicPr>
          <p:nvPr/>
        </p:nvPicPr>
        <p:blipFill>
          <a:blip r:embed="rId5"/>
          <a:stretch>
            <a:fillRect/>
          </a:stretch>
        </p:blipFill>
        <p:spPr>
          <a:xfrm>
            <a:off x="858804" y="5595396"/>
            <a:ext cx="275783" cy="275783"/>
          </a:xfrm>
          <a:prstGeom prst="rect">
            <a:avLst/>
          </a:prstGeom>
        </p:spPr>
      </p:pic>
      <p:sp>
        <p:nvSpPr>
          <p:cNvPr id="23" name="Text 16"/>
          <p:cNvSpPr txBox="1"/>
          <p:nvPr/>
        </p:nvSpPr>
        <p:spPr>
          <a:xfrm>
            <a:off x="1417320" y="5349240"/>
            <a:ext cx="4404208" cy="777240"/>
          </a:xfrm>
          <a:prstGeom prst="rect">
            <a:avLst/>
          </a:prstGeom>
          <a:noFill/>
          <a:ln/>
        </p:spPr>
        <p:txBody>
          <a:bodyPr wrap="square" lIns="0" tIns="0" rIns="0" bIns="0" rtlCol="0" anchor="ctr"/>
          <a:lstStyle/>
          <a:p>
            <a:pPr algn="l" indent="0" marL="0">
              <a:lnSpc>
                <a:spcPct val="100000"/>
              </a:lnSpc>
              <a:buNone/>
            </a:pPr>
            <a:r>
              <a:rPr lang="en-US" sz="1500" dirty="0">
                <a:solidFill>
                  <a:schemeClr val="tx1"/>
                </a:solidFill>
              </a:rPr>
              <a:t>A request that breaks a bylaw is refused, with the rule named.</a:t>
            </a:r>
            <a:endParaRPr lang="en-US" sz="1500" dirty="0"/>
          </a:p>
        </p:txBody>
      </p:sp>
      <p:sp>
        <p:nvSpPr>
          <p:cNvPr id="24" name="Ask bar note"/>
          <p:cNvSpPr/>
          <p:nvPr/>
        </p:nvSpPr>
        <p:spPr>
          <a:xfrm>
            <a:off x="6233008" y="5349240"/>
            <a:ext cx="5410048" cy="777240"/>
          </a:xfrm>
          <a:prstGeom prst="roundRect">
            <a:avLst>
              <a:gd name="adj" fmla="val 14118"/>
            </a:avLst>
          </a:prstGeom>
          <a:solidFill>
            <a:schemeClr val="bg1"/>
          </a:solidFill>
          <a:ln/>
          <a:effectLst>
            <a:outerShdw sx="100000" sy="100000" kx="0" ky="0" algn="bl" rotWithShape="0" blurRad="127000" dist="25400" dir="5400000">
              <a:srgbClr val="000000">
                <a:alpha val="7000"/>
              </a:srgbClr>
            </a:outerShdw>
          </a:effectLst>
        </p:spPr>
      </p:sp>
      <p:sp>
        <p:nvSpPr>
          <p:cNvPr id="25" name="Icon circle LuMessageSquare"/>
          <p:cNvSpPr/>
          <p:nvPr/>
        </p:nvSpPr>
        <p:spPr>
          <a:xfrm>
            <a:off x="6415888" y="5468112"/>
            <a:ext cx="530352" cy="530352"/>
          </a:xfrm>
          <a:prstGeom prst="ellipse">
            <a:avLst/>
          </a:prstGeom>
          <a:solidFill>
            <a:schemeClr val="accent4"/>
          </a:solidFill>
          <a:ln/>
        </p:spPr>
      </p:sp>
      <p:pic>
        <p:nvPicPr>
          <p:cNvPr id="26" name="Icon LuMessageSquare" descr="preencoded.png">    </p:cNvPr>
          <p:cNvPicPr>
            <a:picLocks noChangeAspect="1"/>
          </p:cNvPicPr>
          <p:nvPr/>
        </p:nvPicPr>
        <p:blipFill>
          <a:blip r:embed="rId6"/>
          <a:stretch>
            <a:fillRect/>
          </a:stretch>
        </p:blipFill>
        <p:spPr>
          <a:xfrm>
            <a:off x="6543172" y="5595396"/>
            <a:ext cx="275783" cy="275783"/>
          </a:xfrm>
          <a:prstGeom prst="rect">
            <a:avLst/>
          </a:prstGeom>
        </p:spPr>
      </p:pic>
      <p:sp>
        <p:nvSpPr>
          <p:cNvPr id="27" name="Text 19"/>
          <p:cNvSpPr txBox="1"/>
          <p:nvPr/>
        </p:nvSpPr>
        <p:spPr>
          <a:xfrm>
            <a:off x="7101688" y="5349240"/>
            <a:ext cx="4404208" cy="777240"/>
          </a:xfrm>
          <a:prstGeom prst="rect">
            <a:avLst/>
          </a:prstGeom>
          <a:noFill/>
          <a:ln/>
        </p:spPr>
        <p:txBody>
          <a:bodyPr wrap="square" lIns="0" tIns="0" rIns="0" bIns="0" rtlCol="0" anchor="ctr"/>
          <a:lstStyle/>
          <a:p>
            <a:pPr algn="l" indent="0" marL="0">
              <a:lnSpc>
                <a:spcPct val="100000"/>
              </a:lnSpc>
              <a:buNone/>
            </a:pPr>
            <a:r>
              <a:rPr lang="en-US" sz="1500" dirty="0">
                <a:solidFill>
                  <a:schemeClr val="tx1"/>
                </a:solidFill>
              </a:rPr>
              <a:t>Or type a change in the Ask bar, in plain words.</a:t>
            </a:r>
            <a:endParaRPr lang="en-US" sz="15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5"/>
                </a:solidFill>
              </a:rPr>
              <a:t>Demo runs · 10 marla homes</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What the demo produced</a:t>
            </a:r>
            <a:endParaRPr lang="en-US" sz="3200" dirty="0"/>
          </a:p>
        </p:txBody>
      </p:sp>
      <p:sp>
        <p:nvSpPr>
          <p:cNvPr id="4" name="Text 2"/>
          <p:cNvSpPr txBox="1"/>
          <p:nvPr/>
        </p:nvSpPr>
        <p:spPr>
          <a:xfrm>
            <a:off x="548640" y="1691640"/>
            <a:ext cx="2651760" cy="914400"/>
          </a:xfrm>
          <a:prstGeom prst="rect">
            <a:avLst/>
          </a:prstGeom>
          <a:noFill/>
          <a:ln/>
        </p:spPr>
        <p:txBody>
          <a:bodyPr wrap="square" lIns="0" tIns="0" rIns="0" bIns="0" rtlCol="0" anchor="ctr"/>
          <a:lstStyle/>
          <a:p>
            <a:pPr algn="l" indent="0" marL="0">
              <a:lnSpc>
                <a:spcPct val="100000"/>
              </a:lnSpc>
              <a:buNone/>
            </a:pPr>
            <a:r>
              <a:rPr lang="en-US" sz="5800" b="1" dirty="0">
                <a:solidFill>
                  <a:schemeClr val="accent5"/>
                </a:solidFill>
              </a:rPr>
              <a:t>34/34</a:t>
            </a:r>
            <a:endParaRPr lang="en-US" sz="5800" dirty="0"/>
          </a:p>
        </p:txBody>
      </p:sp>
      <p:sp>
        <p:nvSpPr>
          <p:cNvPr id="5" name="Text 3"/>
          <p:cNvSpPr txBox="1"/>
          <p:nvPr/>
        </p:nvSpPr>
        <p:spPr>
          <a:xfrm>
            <a:off x="3337560" y="1691640"/>
            <a:ext cx="3520440" cy="914400"/>
          </a:xfrm>
          <a:prstGeom prst="rect">
            <a:avLst/>
          </a:prstGeom>
          <a:noFill/>
          <a:ln/>
        </p:spPr>
        <p:txBody>
          <a:bodyPr wrap="square" lIns="0" tIns="0" rIns="0" bIns="0" rtlCol="0" anchor="ctr"/>
          <a:lstStyle/>
          <a:p>
            <a:pPr algn="l" indent="0" marL="0">
              <a:lnSpc>
                <a:spcPct val="105000"/>
              </a:lnSpc>
              <a:buNone/>
            </a:pPr>
            <a:r>
              <a:rPr lang="en-US" sz="1800" dirty="0">
                <a:solidFill>
                  <a:schemeClr val="bg1"/>
                </a:solidFill>
              </a:rPr>
              <a:t>bylaw checks pass on the Islamabad plan</a:t>
            </a:r>
            <a:endParaRPr lang="en-US" sz="1800" dirty="0"/>
          </a:p>
        </p:txBody>
      </p:sp>
      <p:sp>
        <p:nvSpPr>
          <p:cNvPr id="6" name="Text 4"/>
          <p:cNvSpPr txBox="1"/>
          <p:nvPr/>
        </p:nvSpPr>
        <p:spPr>
          <a:xfrm>
            <a:off x="548640" y="2788920"/>
            <a:ext cx="2651760" cy="914400"/>
          </a:xfrm>
          <a:prstGeom prst="rect">
            <a:avLst/>
          </a:prstGeom>
          <a:noFill/>
          <a:ln/>
        </p:spPr>
        <p:txBody>
          <a:bodyPr wrap="square" lIns="0" tIns="0" rIns="0" bIns="0" rtlCol="0" anchor="ctr"/>
          <a:lstStyle/>
          <a:p>
            <a:pPr algn="l" indent="0" marL="0">
              <a:lnSpc>
                <a:spcPct val="100000"/>
              </a:lnSpc>
              <a:buNone/>
            </a:pPr>
            <a:r>
              <a:rPr lang="en-US" sz="5800" b="1" dirty="0">
                <a:solidFill>
                  <a:schemeClr val="bg1"/>
                </a:solidFill>
              </a:rPr>
              <a:t>93%</a:t>
            </a:r>
            <a:endParaRPr lang="en-US" sz="5800" dirty="0"/>
          </a:p>
        </p:txBody>
      </p:sp>
      <p:sp>
        <p:nvSpPr>
          <p:cNvPr id="7" name="Text 5"/>
          <p:cNvSpPr txBox="1"/>
          <p:nvPr/>
        </p:nvSpPr>
        <p:spPr>
          <a:xfrm>
            <a:off x="3337560" y="2788920"/>
            <a:ext cx="3520440" cy="914400"/>
          </a:xfrm>
          <a:prstGeom prst="rect">
            <a:avLst/>
          </a:prstGeom>
          <a:noFill/>
          <a:ln/>
        </p:spPr>
        <p:txBody>
          <a:bodyPr wrap="square" lIns="0" tIns="0" rIns="0" bIns="0" rtlCol="0" anchor="ctr"/>
          <a:lstStyle/>
          <a:p>
            <a:pPr algn="l" indent="0" marL="0">
              <a:lnSpc>
                <a:spcPct val="105000"/>
              </a:lnSpc>
              <a:buNone/>
            </a:pPr>
            <a:r>
              <a:rPr lang="en-US" sz="1800" dirty="0">
                <a:solidFill>
                  <a:schemeClr val="bg1"/>
                </a:solidFill>
              </a:rPr>
              <a:t>of the concept's features are in the 3D model, up from 86%</a:t>
            </a:r>
            <a:endParaRPr lang="en-US" sz="1800" dirty="0"/>
          </a:p>
        </p:txBody>
      </p:sp>
      <p:sp>
        <p:nvSpPr>
          <p:cNvPr id="8" name="Text 6"/>
          <p:cNvSpPr txBox="1"/>
          <p:nvPr/>
        </p:nvSpPr>
        <p:spPr>
          <a:xfrm>
            <a:off x="548640" y="3886200"/>
            <a:ext cx="2651760" cy="914400"/>
          </a:xfrm>
          <a:prstGeom prst="rect">
            <a:avLst/>
          </a:prstGeom>
          <a:noFill/>
          <a:ln/>
        </p:spPr>
        <p:txBody>
          <a:bodyPr wrap="square" lIns="0" tIns="0" rIns="0" bIns="0" rtlCol="0" anchor="ctr"/>
          <a:lstStyle/>
          <a:p>
            <a:pPr algn="l" indent="0" marL="0">
              <a:lnSpc>
                <a:spcPct val="100000"/>
              </a:lnSpc>
              <a:buNone/>
            </a:pPr>
            <a:r>
              <a:rPr lang="en-US" sz="5800" b="1" dirty="0">
                <a:solidFill>
                  <a:schemeClr val="bg1"/>
                </a:solidFill>
              </a:rPr>
              <a:t>27</a:t>
            </a:r>
            <a:endParaRPr lang="en-US" sz="5800" dirty="0"/>
          </a:p>
        </p:txBody>
      </p:sp>
      <p:sp>
        <p:nvSpPr>
          <p:cNvPr id="9" name="Text 7"/>
          <p:cNvSpPr txBox="1"/>
          <p:nvPr/>
        </p:nvSpPr>
        <p:spPr>
          <a:xfrm>
            <a:off x="3337560" y="3886200"/>
            <a:ext cx="3520440" cy="914400"/>
          </a:xfrm>
          <a:prstGeom prst="rect">
            <a:avLst/>
          </a:prstGeom>
          <a:noFill/>
          <a:ln/>
        </p:spPr>
        <p:txBody>
          <a:bodyPr wrap="square" lIns="0" tIns="0" rIns="0" bIns="0" rtlCol="0" anchor="ctr"/>
          <a:lstStyle/>
          <a:p>
            <a:pPr algn="l" indent="0" marL="0">
              <a:lnSpc>
                <a:spcPct val="105000"/>
              </a:lnSpc>
              <a:buNone/>
            </a:pPr>
            <a:r>
              <a:rPr lang="en-US" sz="1800" dirty="0">
                <a:solidFill>
                  <a:schemeClr val="bg1"/>
                </a:solidFill>
              </a:rPr>
              <a:t>rooms read on 2 floors from two uploaded sheets</a:t>
            </a:r>
            <a:endParaRPr lang="en-US" sz="1800" dirty="0"/>
          </a:p>
        </p:txBody>
      </p:sp>
      <p:sp>
        <p:nvSpPr>
          <p:cNvPr id="10" name="Text 8"/>
          <p:cNvSpPr txBox="1"/>
          <p:nvPr/>
        </p:nvSpPr>
        <p:spPr>
          <a:xfrm>
            <a:off x="548640" y="5120640"/>
            <a:ext cx="6309360" cy="365760"/>
          </a:xfrm>
          <a:prstGeom prst="rect">
            <a:avLst/>
          </a:prstGeom>
          <a:noFill/>
          <a:ln/>
        </p:spPr>
        <p:txBody>
          <a:bodyPr wrap="square" lIns="0" tIns="0" rIns="0" bIns="0" rtlCol="0" anchor="ctr"/>
          <a:lstStyle/>
          <a:p>
            <a:pPr algn="l" indent="0" marL="0">
              <a:lnSpc>
                <a:spcPct val="100000"/>
              </a:lnSpc>
              <a:buNone/>
            </a:pPr>
            <a:r>
              <a:rPr lang="en-US" sz="1600" b="1" dirty="0">
                <a:solidFill>
                  <a:schemeClr val="bg1"/>
                </a:solidFill>
              </a:rPr>
              <a:t>Fixers' countdown: </a:t>
            </a:r>
            <a:pPr algn="l" indent="0" marL="0">
              <a:lnSpc>
                <a:spcPct val="100000"/>
              </a:lnSpc>
              <a:buNone/>
            </a:pPr>
            <a:r>
              <a:rPr lang="en-US" sz="1600" dirty="0">
                <a:solidFill>
                  <a:schemeClr val="accent6"/>
                </a:solidFill>
              </a:rPr>
              <a:t>34 → 22 → 15 → 7 → 3 → 0 failing checks</a:t>
            </a:r>
            <a:pPr algn="l" indent="0" marL="0">
              <a:lnSpc>
                <a:spcPct val="100000"/>
              </a:lnSpc>
              <a:buNone/>
            </a:pPr>
            <a:endParaRPr lang="en-US" sz="1600" dirty="0"/>
          </a:p>
        </p:txBody>
      </p:sp>
      <p:sp>
        <p:nvSpPr>
          <p:cNvPr id="11" name="Text 9"/>
          <p:cNvSpPr txBox="1"/>
          <p:nvPr/>
        </p:nvSpPr>
        <p:spPr>
          <a:xfrm>
            <a:off x="548640" y="5532120"/>
            <a:ext cx="6309360" cy="365760"/>
          </a:xfrm>
          <a:prstGeom prst="rect">
            <a:avLst/>
          </a:prstGeom>
          <a:noFill/>
          <a:ln/>
        </p:spPr>
        <p:txBody>
          <a:bodyPr wrap="square" lIns="0" tIns="0" rIns="0" bIns="0" rtlCol="0" anchor="ctr"/>
          <a:lstStyle/>
          <a:p>
            <a:pPr algn="l" indent="0" marL="0">
              <a:lnSpc>
                <a:spcPct val="100000"/>
              </a:lnSpc>
              <a:buNone/>
            </a:pPr>
            <a:r>
              <a:rPr lang="en-US" sz="1600" b="1" dirty="0">
                <a:solidFill>
                  <a:schemeClr val="bg1"/>
                </a:solidFill>
              </a:rPr>
              <a:t>Then: </a:t>
            </a:r>
            <a:pPr algn="l" indent="0" marL="0">
              <a:lnSpc>
                <a:spcPct val="100000"/>
              </a:lnSpc>
              <a:buNone/>
            </a:pPr>
            <a:r>
              <a:rPr lang="en-US" sz="1600" dirty="0">
                <a:solidFill>
                  <a:schemeClr val="accent6"/>
                </a:solidFill>
              </a:rPr>
              <a:t>photos from 4 angles, a night view and a walk-through</a:t>
            </a:r>
            <a:endParaRPr lang="en-US" sz="1600" dirty="0"/>
          </a:p>
        </p:txBody>
      </p:sp>
      <p:pic>
        <p:nvPicPr>
          <p:cNvPr id="12" name="results-corner.jpg" descr="Street-corner photo of the Islamabad home, made from its 3D model">    </p:cNvPr>
          <p:cNvPicPr>
            <a:picLocks noChangeAspect="1"/>
          </p:cNvPicPr>
          <p:nvPr/>
        </p:nvPicPr>
        <p:blipFill>
          <a:blip r:embed="rId1"/>
          <a:stretch>
            <a:fillRect/>
          </a:stretch>
        </p:blipFill>
        <p:spPr>
          <a:xfrm>
            <a:off x="7223760" y="1691640"/>
            <a:ext cx="4411980" cy="4389120"/>
          </a:xfrm>
          <a:prstGeom prst="rect">
            <a:avLst/>
          </a:prstGeom>
        </p:spPr>
      </p:pic>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A3A3A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Architecture</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How the pieces fit</a:t>
            </a:r>
            <a:endParaRPr lang="en-US" sz="3200" dirty="0"/>
          </a:p>
        </p:txBody>
      </p:sp>
      <p:sp>
        <p:nvSpPr>
          <p:cNvPr id="4" name="Browser box"/>
          <p:cNvSpPr/>
          <p:nvPr/>
        </p:nvSpPr>
        <p:spPr>
          <a:xfrm>
            <a:off x="548640" y="2148840"/>
            <a:ext cx="1691640" cy="3291840"/>
          </a:xfrm>
          <a:prstGeom prst="roundRect">
            <a:avLst>
              <a:gd name="adj" fmla="val 6486"/>
            </a:avLst>
          </a:prstGeom>
          <a:solidFill>
            <a:schemeClr val="bg1"/>
          </a:solidFill>
          <a:ln/>
          <a:effectLst>
            <a:outerShdw sx="100000" sy="100000" kx="0" ky="0" algn="bl" rotWithShape="0" blurRad="127000" dist="25400" dir="5400000">
              <a:srgbClr val="000000">
                <a:alpha val="7000"/>
              </a:srgbClr>
            </a:outerShdw>
          </a:effectLst>
        </p:spPr>
      </p:sp>
      <p:sp>
        <p:nvSpPr>
          <p:cNvPr id="5" name="Icon circle LuUsers"/>
          <p:cNvSpPr/>
          <p:nvPr/>
        </p:nvSpPr>
        <p:spPr>
          <a:xfrm>
            <a:off x="731520" y="2331720"/>
            <a:ext cx="548640" cy="548640"/>
          </a:xfrm>
          <a:prstGeom prst="ellipse">
            <a:avLst/>
          </a:prstGeom>
          <a:solidFill>
            <a:schemeClr val="accent4"/>
          </a:solidFill>
          <a:ln/>
        </p:spPr>
      </p:sp>
      <p:pic>
        <p:nvPicPr>
          <p:cNvPr id="6" name="Icon LuUsers" descr="preencoded.png">    </p:cNvPr>
          <p:cNvPicPr>
            <a:picLocks noChangeAspect="1"/>
          </p:cNvPicPr>
          <p:nvPr/>
        </p:nvPicPr>
        <p:blipFill>
          <a:blip r:embed="rId1"/>
          <a:stretch>
            <a:fillRect/>
          </a:stretch>
        </p:blipFill>
        <p:spPr>
          <a:xfrm>
            <a:off x="863194" y="2463394"/>
            <a:ext cx="285293" cy="285293"/>
          </a:xfrm>
          <a:prstGeom prst="rect">
            <a:avLst/>
          </a:prstGeom>
        </p:spPr>
      </p:pic>
      <p:sp>
        <p:nvSpPr>
          <p:cNvPr id="7" name="Text 4"/>
          <p:cNvSpPr txBox="1"/>
          <p:nvPr/>
        </p:nvSpPr>
        <p:spPr>
          <a:xfrm>
            <a:off x="731520" y="3017520"/>
            <a:ext cx="1325880" cy="365760"/>
          </a:xfrm>
          <a:prstGeom prst="rect">
            <a:avLst/>
          </a:prstGeom>
          <a:noFill/>
          <a:ln/>
        </p:spPr>
        <p:txBody>
          <a:bodyPr wrap="square" lIns="0" tIns="0" rIns="0" bIns="0" rtlCol="0" anchor="t"/>
          <a:lstStyle/>
          <a:p>
            <a:pPr algn="l" indent="0" marL="0">
              <a:lnSpc>
                <a:spcPct val="100000"/>
              </a:lnSpc>
              <a:buNone/>
            </a:pPr>
            <a:r>
              <a:rPr lang="en-US" sz="1800" b="1" dirty="0">
                <a:solidFill>
                  <a:schemeClr val="tx1"/>
                </a:solidFill>
              </a:rPr>
              <a:t>Browser</a:t>
            </a:r>
            <a:endParaRPr lang="en-US" sz="1800" dirty="0"/>
          </a:p>
        </p:txBody>
      </p:sp>
      <p:sp>
        <p:nvSpPr>
          <p:cNvPr id="8" name="Text 5"/>
          <p:cNvSpPr txBox="1"/>
          <p:nvPr/>
        </p:nvSpPr>
        <p:spPr>
          <a:xfrm>
            <a:off x="731520" y="3429000"/>
            <a:ext cx="1325880" cy="182880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React and three.js. Runs the house code section by section.</a:t>
            </a:r>
            <a:endParaRPr lang="en-US" sz="1400" dirty="0"/>
          </a:p>
        </p:txBody>
      </p:sp>
      <p:sp>
        <p:nvSpPr>
          <p:cNvPr id="9" name="Browser to API"/>
          <p:cNvSpPr/>
          <p:nvPr/>
        </p:nvSpPr>
        <p:spPr>
          <a:xfrm>
            <a:off x="2304288" y="3794760"/>
            <a:ext cx="740664" cy="0"/>
          </a:xfrm>
          <a:prstGeom prst="line">
            <a:avLst/>
          </a:prstGeom>
          <a:noFill/>
          <a:ln w="22225">
            <a:solidFill>
              <a:schemeClr val="accent1"/>
            </a:solidFill>
            <a:prstDash val="solid"/>
            <a:tailEnd type="triangle"/>
          </a:ln>
        </p:spPr>
      </p:sp>
      <p:sp>
        <p:nvSpPr>
          <p:cNvPr id="10" name="Text 7"/>
          <p:cNvSpPr txBox="1"/>
          <p:nvPr/>
        </p:nvSpPr>
        <p:spPr>
          <a:xfrm>
            <a:off x="2286000" y="3401568"/>
            <a:ext cx="777240" cy="329184"/>
          </a:xfrm>
          <a:prstGeom prst="rect">
            <a:avLst/>
          </a:prstGeom>
          <a:noFill/>
          <a:ln/>
        </p:spPr>
        <p:txBody>
          <a:bodyPr wrap="square" lIns="0" tIns="0" rIns="0" bIns="0" rtlCol="0" anchor="t"/>
          <a:lstStyle/>
          <a:p>
            <a:pPr algn="ctr" indent="0" marL="0">
              <a:lnSpc>
                <a:spcPct val="100000"/>
              </a:lnSpc>
              <a:buNone/>
            </a:pPr>
            <a:r>
              <a:rPr lang="en-US" sz="1400" b="1" dirty="0">
                <a:solidFill>
                  <a:schemeClr val="accent1"/>
                </a:solidFill>
              </a:rPr>
              <a:t>REST</a:t>
            </a:r>
            <a:endParaRPr lang="en-US" sz="1400" dirty="0"/>
          </a:p>
        </p:txBody>
      </p:sp>
      <p:sp>
        <p:nvSpPr>
          <p:cNvPr id="11" name="Text 8"/>
          <p:cNvSpPr txBox="1"/>
          <p:nvPr/>
        </p:nvSpPr>
        <p:spPr>
          <a:xfrm>
            <a:off x="2286000" y="3886200"/>
            <a:ext cx="777240" cy="329184"/>
          </a:xfrm>
          <a:prstGeom prst="rect">
            <a:avLst/>
          </a:prstGeom>
          <a:noFill/>
          <a:ln/>
        </p:spPr>
        <p:txBody>
          <a:bodyPr wrap="square" lIns="0" tIns="0" rIns="0" bIns="0" rtlCol="0" anchor="t"/>
          <a:lstStyle/>
          <a:p>
            <a:pPr algn="ctr" indent="0" marL="0">
              <a:lnSpc>
                <a:spcPct val="100000"/>
              </a:lnSpc>
              <a:buNone/>
            </a:pPr>
            <a:r>
              <a:rPr lang="en-US" sz="1400" b="1" dirty="0">
                <a:solidFill>
                  <a:schemeClr val="accent1"/>
                </a:solidFill>
              </a:rPr>
              <a:t>SSE</a:t>
            </a:r>
            <a:endParaRPr lang="en-US" sz="1400" dirty="0"/>
          </a:p>
        </p:txBody>
      </p:sp>
      <p:sp>
        <p:nvSpPr>
          <p:cNvPr id="12" name="Cloud Run container"/>
          <p:cNvSpPr/>
          <p:nvPr/>
        </p:nvSpPr>
        <p:spPr>
          <a:xfrm>
            <a:off x="3108960" y="1691640"/>
            <a:ext cx="5440680" cy="4434840"/>
          </a:xfrm>
          <a:prstGeom prst="roundRect">
            <a:avLst>
              <a:gd name="adj" fmla="val 2474"/>
            </a:avLst>
          </a:prstGeom>
          <a:solidFill>
            <a:schemeClr val="bg1"/>
          </a:solidFill>
          <a:ln/>
          <a:effectLst>
            <a:outerShdw sx="100000" sy="100000" kx="0" ky="0" algn="bl" rotWithShape="0" blurRad="127000" dist="25400" dir="5400000">
              <a:srgbClr val="000000">
                <a:alpha val="7000"/>
              </a:srgbClr>
            </a:outerShdw>
          </a:effectLst>
        </p:spPr>
      </p:sp>
      <p:sp>
        <p:nvSpPr>
          <p:cNvPr id="13" name="Text 10"/>
          <p:cNvSpPr txBox="1"/>
          <p:nvPr/>
        </p:nvSpPr>
        <p:spPr>
          <a:xfrm>
            <a:off x="3337560" y="1828800"/>
            <a:ext cx="4983480" cy="365760"/>
          </a:xfrm>
          <a:prstGeom prst="rect">
            <a:avLst/>
          </a:prstGeom>
          <a:noFill/>
          <a:ln/>
        </p:spPr>
        <p:txBody>
          <a:bodyPr wrap="square" lIns="0" tIns="0" rIns="0" bIns="0" rtlCol="0" anchor="t"/>
          <a:lstStyle/>
          <a:p>
            <a:pPr algn="l" indent="0" marL="0">
              <a:lnSpc>
                <a:spcPct val="100000"/>
              </a:lnSpc>
              <a:buNone/>
            </a:pPr>
            <a:r>
              <a:rPr lang="en-US" sz="1800" b="1" dirty="0">
                <a:solidFill>
                  <a:schemeClr val="tx1"/>
                </a:solidFill>
              </a:rPr>
              <a:t>Cloud Run · FastAPI</a:t>
            </a:r>
            <a:endParaRPr lang="en-US" sz="1800" dirty="0"/>
          </a:p>
        </p:txBody>
      </p:sp>
      <p:sp>
        <p:nvSpPr>
          <p:cNvPr id="14" name="Box Setup agent"/>
          <p:cNvSpPr/>
          <p:nvPr/>
        </p:nvSpPr>
        <p:spPr>
          <a:xfrm>
            <a:off x="3337560" y="2331720"/>
            <a:ext cx="2400300" cy="804672"/>
          </a:xfrm>
          <a:prstGeom prst="roundRect">
            <a:avLst>
              <a:gd name="adj" fmla="val 13636"/>
            </a:avLst>
          </a:prstGeom>
          <a:solidFill>
            <a:schemeClr val="bg2"/>
          </a:solidFill>
          <a:ln/>
        </p:spPr>
      </p:sp>
      <p:sp>
        <p:nvSpPr>
          <p:cNvPr id="15" name="Text 12"/>
          <p:cNvSpPr txBox="1"/>
          <p:nvPr/>
        </p:nvSpPr>
        <p:spPr>
          <a:xfrm>
            <a:off x="3447288" y="2423160"/>
            <a:ext cx="2180844"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Setup agent</a:t>
            </a:r>
            <a:endParaRPr lang="en-US" sz="1400" dirty="0"/>
          </a:p>
        </p:txBody>
      </p:sp>
      <p:sp>
        <p:nvSpPr>
          <p:cNvPr id="16" name="Text 13"/>
          <p:cNvSpPr txBox="1"/>
          <p:nvPr/>
        </p:nvSpPr>
        <p:spPr>
          <a:xfrm>
            <a:off x="3447288" y="2734056"/>
            <a:ext cx="2180844" cy="329184"/>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ADK · Nemotron 3 Super</a:t>
            </a:r>
            <a:endParaRPr lang="en-US" sz="1400" dirty="0"/>
          </a:p>
        </p:txBody>
      </p:sp>
      <p:sp>
        <p:nvSpPr>
          <p:cNvPr id="17" name="Box Rule research"/>
          <p:cNvSpPr/>
          <p:nvPr/>
        </p:nvSpPr>
        <p:spPr>
          <a:xfrm>
            <a:off x="5920740" y="2331720"/>
            <a:ext cx="2400300" cy="804672"/>
          </a:xfrm>
          <a:prstGeom prst="roundRect">
            <a:avLst>
              <a:gd name="adj" fmla="val 13636"/>
            </a:avLst>
          </a:prstGeom>
          <a:solidFill>
            <a:schemeClr val="bg2"/>
          </a:solidFill>
          <a:ln/>
        </p:spPr>
      </p:sp>
      <p:sp>
        <p:nvSpPr>
          <p:cNvPr id="18" name="Text 15"/>
          <p:cNvSpPr txBox="1"/>
          <p:nvPr/>
        </p:nvSpPr>
        <p:spPr>
          <a:xfrm>
            <a:off x="6030468" y="2423160"/>
            <a:ext cx="2180844"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Rule research</a:t>
            </a:r>
            <a:endParaRPr lang="en-US" sz="1400" dirty="0"/>
          </a:p>
        </p:txBody>
      </p:sp>
      <p:sp>
        <p:nvSpPr>
          <p:cNvPr id="19" name="Text 16"/>
          <p:cNvSpPr txBox="1"/>
          <p:nvPr/>
        </p:nvSpPr>
        <p:spPr>
          <a:xfrm>
            <a:off x="6030468" y="2734056"/>
            <a:ext cx="2180844" cy="329184"/>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Tavily · Nemotron 3 Ultra</a:t>
            </a:r>
            <a:endParaRPr lang="en-US" sz="1400" dirty="0"/>
          </a:p>
        </p:txBody>
      </p:sp>
      <p:sp>
        <p:nvSpPr>
          <p:cNvPr id="20" name="Box Drawing reader"/>
          <p:cNvSpPr/>
          <p:nvPr/>
        </p:nvSpPr>
        <p:spPr>
          <a:xfrm>
            <a:off x="3337560" y="3273552"/>
            <a:ext cx="2400300" cy="804672"/>
          </a:xfrm>
          <a:prstGeom prst="roundRect">
            <a:avLst>
              <a:gd name="adj" fmla="val 13636"/>
            </a:avLst>
          </a:prstGeom>
          <a:solidFill>
            <a:schemeClr val="bg2"/>
          </a:solidFill>
          <a:ln/>
        </p:spPr>
      </p:sp>
      <p:sp>
        <p:nvSpPr>
          <p:cNvPr id="21" name="Text 18"/>
          <p:cNvSpPr txBox="1"/>
          <p:nvPr/>
        </p:nvSpPr>
        <p:spPr>
          <a:xfrm>
            <a:off x="3447288" y="3364992"/>
            <a:ext cx="2180844"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Drawing reader</a:t>
            </a:r>
            <a:endParaRPr lang="en-US" sz="1400" dirty="0"/>
          </a:p>
        </p:txBody>
      </p:sp>
      <p:sp>
        <p:nvSpPr>
          <p:cNvPr id="22" name="Text 19"/>
          <p:cNvSpPr txBox="1"/>
          <p:nvPr/>
        </p:nvSpPr>
        <p:spPr>
          <a:xfrm>
            <a:off x="3447288" y="3675888"/>
            <a:ext cx="2180844" cy="329184"/>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Nemotron 3.5 Super VL</a:t>
            </a:r>
            <a:endParaRPr lang="en-US" sz="1400" dirty="0"/>
          </a:p>
        </p:txBody>
      </p:sp>
      <p:sp>
        <p:nvSpPr>
          <p:cNvPr id="23" name="Box Architect + fixers"/>
          <p:cNvSpPr/>
          <p:nvPr/>
        </p:nvSpPr>
        <p:spPr>
          <a:xfrm>
            <a:off x="5920740" y="3273552"/>
            <a:ext cx="2400300" cy="804672"/>
          </a:xfrm>
          <a:prstGeom prst="roundRect">
            <a:avLst>
              <a:gd name="adj" fmla="val 13636"/>
            </a:avLst>
          </a:prstGeom>
          <a:solidFill>
            <a:schemeClr val="bg2"/>
          </a:solidFill>
          <a:ln/>
        </p:spPr>
      </p:sp>
      <p:sp>
        <p:nvSpPr>
          <p:cNvPr id="24" name="Text 21"/>
          <p:cNvSpPr txBox="1"/>
          <p:nvPr/>
        </p:nvSpPr>
        <p:spPr>
          <a:xfrm>
            <a:off x="6030468" y="3364992"/>
            <a:ext cx="2180844"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Architect + fixers</a:t>
            </a:r>
            <a:endParaRPr lang="en-US" sz="1400" dirty="0"/>
          </a:p>
        </p:txBody>
      </p:sp>
      <p:sp>
        <p:nvSpPr>
          <p:cNvPr id="25" name="Text 22"/>
          <p:cNvSpPr txBox="1"/>
          <p:nvPr/>
        </p:nvSpPr>
        <p:spPr>
          <a:xfrm>
            <a:off x="6030468" y="3675888"/>
            <a:ext cx="2180844" cy="329184"/>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Nemotron 3 Ultra</a:t>
            </a:r>
            <a:endParaRPr lang="en-US" sz="1400" dirty="0"/>
          </a:p>
        </p:txBody>
      </p:sp>
      <p:sp>
        <p:nvSpPr>
          <p:cNvPr id="26" name="Box Match + photos"/>
          <p:cNvSpPr/>
          <p:nvPr/>
        </p:nvSpPr>
        <p:spPr>
          <a:xfrm>
            <a:off x="3337560" y="4215384"/>
            <a:ext cx="2400300" cy="804672"/>
          </a:xfrm>
          <a:prstGeom prst="roundRect">
            <a:avLst>
              <a:gd name="adj" fmla="val 13636"/>
            </a:avLst>
          </a:prstGeom>
          <a:solidFill>
            <a:schemeClr val="bg2"/>
          </a:solidFill>
          <a:ln/>
        </p:spPr>
      </p:sp>
      <p:sp>
        <p:nvSpPr>
          <p:cNvPr id="27" name="Text 24"/>
          <p:cNvSpPr txBox="1"/>
          <p:nvPr/>
        </p:nvSpPr>
        <p:spPr>
          <a:xfrm>
            <a:off x="3447288" y="4306824"/>
            <a:ext cx="2180844"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Match + photos</a:t>
            </a:r>
            <a:endParaRPr lang="en-US" sz="1400" dirty="0"/>
          </a:p>
        </p:txBody>
      </p:sp>
      <p:sp>
        <p:nvSpPr>
          <p:cNvPr id="28" name="Text 25"/>
          <p:cNvSpPr txBox="1"/>
          <p:nvPr/>
        </p:nvSpPr>
        <p:spPr>
          <a:xfrm>
            <a:off x="3447288" y="4617720"/>
            <a:ext cx="2180844" cy="329184"/>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VL, Ultra, image model</a:t>
            </a:r>
            <a:endParaRPr lang="en-US" sz="1400" dirty="0"/>
          </a:p>
        </p:txBody>
      </p:sp>
      <p:sp>
        <p:nvSpPr>
          <p:cNvPr id="29" name="Box Revision agent"/>
          <p:cNvSpPr/>
          <p:nvPr/>
        </p:nvSpPr>
        <p:spPr>
          <a:xfrm>
            <a:off x="5920740" y="4215384"/>
            <a:ext cx="2400300" cy="804672"/>
          </a:xfrm>
          <a:prstGeom prst="roundRect">
            <a:avLst>
              <a:gd name="adj" fmla="val 13636"/>
            </a:avLst>
          </a:prstGeom>
          <a:solidFill>
            <a:schemeClr val="bg2"/>
          </a:solidFill>
          <a:ln/>
        </p:spPr>
      </p:sp>
      <p:sp>
        <p:nvSpPr>
          <p:cNvPr id="30" name="Text 27"/>
          <p:cNvSpPr txBox="1"/>
          <p:nvPr/>
        </p:nvSpPr>
        <p:spPr>
          <a:xfrm>
            <a:off x="6030468" y="4306824"/>
            <a:ext cx="2180844"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Revision agent</a:t>
            </a:r>
            <a:endParaRPr lang="en-US" sz="1400" dirty="0"/>
          </a:p>
        </p:txBody>
      </p:sp>
      <p:sp>
        <p:nvSpPr>
          <p:cNvPr id="31" name="Text 28"/>
          <p:cNvSpPr txBox="1"/>
          <p:nvPr/>
        </p:nvSpPr>
        <p:spPr>
          <a:xfrm>
            <a:off x="6030468" y="4617720"/>
            <a:ext cx="2180844" cy="329184"/>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ADK · Nemotron 3 Ultra</a:t>
            </a:r>
            <a:endParaRPr lang="en-US" sz="1400" dirty="0"/>
          </a:p>
        </p:txBody>
      </p:sp>
      <p:sp>
        <p:nvSpPr>
          <p:cNvPr id="32" name="Rules engine box"/>
          <p:cNvSpPr/>
          <p:nvPr/>
        </p:nvSpPr>
        <p:spPr>
          <a:xfrm>
            <a:off x="3337560" y="5157216"/>
            <a:ext cx="4983480" cy="822960"/>
          </a:xfrm>
          <a:prstGeom prst="roundRect">
            <a:avLst>
              <a:gd name="adj" fmla="val 13333"/>
            </a:avLst>
          </a:prstGeom>
          <a:solidFill>
            <a:schemeClr val="accent4"/>
          </a:solidFill>
          <a:ln/>
        </p:spPr>
      </p:sp>
      <p:sp>
        <p:nvSpPr>
          <p:cNvPr id="33" name="Text 30"/>
          <p:cNvSpPr txBox="1"/>
          <p:nvPr/>
        </p:nvSpPr>
        <p:spPr>
          <a:xfrm>
            <a:off x="3474720" y="5248656"/>
            <a:ext cx="4709160" cy="310896"/>
          </a:xfrm>
          <a:prstGeom prst="rect">
            <a:avLst/>
          </a:prstGeom>
          <a:noFill/>
          <a:ln/>
        </p:spPr>
        <p:txBody>
          <a:bodyPr wrap="square" lIns="0" tIns="0" rIns="0" bIns="0" rtlCol="0" anchor="t"/>
          <a:lstStyle/>
          <a:p>
            <a:pPr algn="l" indent="0" marL="0">
              <a:lnSpc>
                <a:spcPct val="100000"/>
              </a:lnSpc>
              <a:buNone/>
            </a:pPr>
            <a:r>
              <a:rPr lang="en-US" sz="1400" b="1" dirty="0">
                <a:solidFill>
                  <a:schemeClr val="accent1"/>
                </a:solidFill>
              </a:rPr>
              <a:t>Rules engine</a:t>
            </a:r>
            <a:endParaRPr lang="en-US" sz="1400" dirty="0"/>
          </a:p>
        </p:txBody>
      </p:sp>
      <p:sp>
        <p:nvSpPr>
          <p:cNvPr id="34" name="Text 31"/>
          <p:cNvSpPr txBox="1"/>
          <p:nvPr/>
        </p:nvSpPr>
        <p:spPr>
          <a:xfrm>
            <a:off x="3474720" y="5568696"/>
            <a:ext cx="4709160" cy="329184"/>
          </a:xfrm>
          <a:prstGeom prst="rect">
            <a:avLst/>
          </a:prstGeom>
          <a:noFill/>
          <a:ln/>
        </p:spPr>
        <p:txBody>
          <a:bodyPr wrap="square" lIns="0" tIns="0" rIns="0" bIns="0" rtlCol="0" anchor="t"/>
          <a:lstStyle/>
          <a:p>
            <a:pPr algn="l" indent="0" marL="0">
              <a:lnSpc>
                <a:spcPct val="100000"/>
              </a:lnSpc>
              <a:buNone/>
            </a:pPr>
            <a:r>
              <a:rPr lang="en-US" sz="1400" dirty="0">
                <a:solidFill>
                  <a:schemeClr val="tx1"/>
                </a:solidFill>
              </a:rPr>
              <a:t>Deterministic Python: the LDA pack and researched packs</a:t>
            </a:r>
            <a:endParaRPr lang="en-US" sz="1400" dirty="0"/>
          </a:p>
        </p:txBody>
      </p:sp>
      <p:sp>
        <p:nvSpPr>
          <p:cNvPr id="35" name="Service Nebius Token Factory"/>
          <p:cNvSpPr/>
          <p:nvPr/>
        </p:nvSpPr>
        <p:spPr>
          <a:xfrm>
            <a:off x="8961120" y="1691640"/>
            <a:ext cx="2681935" cy="1005840"/>
          </a:xfrm>
          <a:prstGeom prst="roundRect">
            <a:avLst>
              <a:gd name="adj" fmla="val 10909"/>
            </a:avLst>
          </a:prstGeom>
          <a:solidFill>
            <a:schemeClr val="tx1"/>
          </a:solidFill>
          <a:ln/>
          <a:effectLst>
            <a:outerShdw sx="100000" sy="100000" kx="0" ky="0" algn="bl" rotWithShape="0" blurRad="127000" dist="25400" dir="5400000">
              <a:srgbClr val="000000">
                <a:alpha val="7000"/>
              </a:srgbClr>
            </a:outerShdw>
          </a:effectLst>
        </p:spPr>
      </p:sp>
      <p:sp>
        <p:nvSpPr>
          <p:cNvPr id="36" name="Text 33"/>
          <p:cNvSpPr txBox="1"/>
          <p:nvPr/>
        </p:nvSpPr>
        <p:spPr>
          <a:xfrm>
            <a:off x="9125712" y="1801368"/>
            <a:ext cx="2352751" cy="310896"/>
          </a:xfrm>
          <a:prstGeom prst="rect">
            <a:avLst/>
          </a:prstGeom>
          <a:noFill/>
          <a:ln/>
        </p:spPr>
        <p:txBody>
          <a:bodyPr wrap="square" lIns="0" tIns="0" rIns="0" bIns="0" rtlCol="0" anchor="t"/>
          <a:lstStyle/>
          <a:p>
            <a:pPr algn="l" indent="0" marL="0">
              <a:lnSpc>
                <a:spcPct val="100000"/>
              </a:lnSpc>
              <a:buNone/>
            </a:pPr>
            <a:r>
              <a:rPr lang="en-US" sz="1400" b="1" dirty="0">
                <a:solidFill>
                  <a:schemeClr val="bg1"/>
                </a:solidFill>
              </a:rPr>
              <a:t>Nebius Token Factory</a:t>
            </a:r>
            <a:endParaRPr lang="en-US" sz="1400" dirty="0"/>
          </a:p>
        </p:txBody>
      </p:sp>
      <p:sp>
        <p:nvSpPr>
          <p:cNvPr id="37" name="Text 34"/>
          <p:cNvSpPr txBox="1"/>
          <p:nvPr/>
        </p:nvSpPr>
        <p:spPr>
          <a:xfrm>
            <a:off x="9125712" y="2121408"/>
            <a:ext cx="2352751" cy="502920"/>
          </a:xfrm>
          <a:prstGeom prst="rect">
            <a:avLst/>
          </a:prstGeom>
          <a:noFill/>
          <a:ln/>
        </p:spPr>
        <p:txBody>
          <a:bodyPr wrap="square" lIns="0" tIns="0" rIns="0" bIns="0" rtlCol="0" anchor="t"/>
          <a:lstStyle/>
          <a:p>
            <a:pPr algn="l" indent="0" marL="0">
              <a:lnSpc>
                <a:spcPct val="100000"/>
              </a:lnSpc>
              <a:buNone/>
            </a:pPr>
            <a:r>
              <a:rPr lang="en-US" sz="1400" dirty="0">
                <a:solidFill>
                  <a:schemeClr val="accent2"/>
                </a:solidFill>
              </a:rPr>
              <a:t>Every Nemotron text and vision call</a:t>
            </a:r>
            <a:endParaRPr lang="en-US" sz="1400" dirty="0"/>
          </a:p>
        </p:txBody>
      </p:sp>
      <p:sp>
        <p:nvSpPr>
          <p:cNvPr id="38" name="API to Nebius Token Factory"/>
          <p:cNvSpPr/>
          <p:nvPr/>
        </p:nvSpPr>
        <p:spPr>
          <a:xfrm>
            <a:off x="8586216" y="2167128"/>
            <a:ext cx="338328" cy="0"/>
          </a:xfrm>
          <a:prstGeom prst="line">
            <a:avLst/>
          </a:prstGeom>
          <a:noFill/>
          <a:ln w="22225">
            <a:solidFill>
              <a:schemeClr val="accent3"/>
            </a:solidFill>
            <a:prstDash val="solid"/>
            <a:tailEnd type="triangle"/>
          </a:ln>
        </p:spPr>
      </p:sp>
      <p:sp>
        <p:nvSpPr>
          <p:cNvPr id="39" name="Service Tavily"/>
          <p:cNvSpPr/>
          <p:nvPr/>
        </p:nvSpPr>
        <p:spPr>
          <a:xfrm>
            <a:off x="8961120" y="2834640"/>
            <a:ext cx="2681935" cy="1005840"/>
          </a:xfrm>
          <a:prstGeom prst="roundRect">
            <a:avLst>
              <a:gd name="adj" fmla="val 10909"/>
            </a:avLst>
          </a:prstGeom>
          <a:solidFill>
            <a:schemeClr val="bg1"/>
          </a:solidFill>
          <a:ln/>
          <a:effectLst>
            <a:outerShdw sx="100000" sy="100000" kx="0" ky="0" algn="bl" rotWithShape="0" blurRad="127000" dist="25400" dir="5400000">
              <a:srgbClr val="000000">
                <a:alpha val="7000"/>
              </a:srgbClr>
            </a:outerShdw>
          </a:effectLst>
        </p:spPr>
      </p:sp>
      <p:sp>
        <p:nvSpPr>
          <p:cNvPr id="40" name="Text 37"/>
          <p:cNvSpPr txBox="1"/>
          <p:nvPr/>
        </p:nvSpPr>
        <p:spPr>
          <a:xfrm>
            <a:off x="9125712" y="2944368"/>
            <a:ext cx="2352751"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Tavily</a:t>
            </a:r>
            <a:endParaRPr lang="en-US" sz="1400" dirty="0"/>
          </a:p>
        </p:txBody>
      </p:sp>
      <p:sp>
        <p:nvSpPr>
          <p:cNvPr id="41" name="Text 38"/>
          <p:cNvSpPr txBox="1"/>
          <p:nvPr/>
        </p:nvSpPr>
        <p:spPr>
          <a:xfrm>
            <a:off x="9125712" y="3264408"/>
            <a:ext cx="2352751" cy="50292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Search + extract for city rules</a:t>
            </a:r>
            <a:endParaRPr lang="en-US" sz="1400" dirty="0"/>
          </a:p>
        </p:txBody>
      </p:sp>
      <p:sp>
        <p:nvSpPr>
          <p:cNvPr id="42" name="API to Tavily"/>
          <p:cNvSpPr/>
          <p:nvPr/>
        </p:nvSpPr>
        <p:spPr>
          <a:xfrm>
            <a:off x="8586216" y="3310128"/>
            <a:ext cx="338328" cy="0"/>
          </a:xfrm>
          <a:prstGeom prst="line">
            <a:avLst/>
          </a:prstGeom>
          <a:noFill/>
          <a:ln w="22225">
            <a:solidFill>
              <a:schemeClr val="accent3"/>
            </a:solidFill>
            <a:prstDash val="solid"/>
            <a:tailEnd type="triangle"/>
          </a:ln>
        </p:spPr>
      </p:sp>
      <p:sp>
        <p:nvSpPr>
          <p:cNvPr id="43" name="Service Gemini image models"/>
          <p:cNvSpPr/>
          <p:nvPr/>
        </p:nvSpPr>
        <p:spPr>
          <a:xfrm>
            <a:off x="8961120" y="3977640"/>
            <a:ext cx="2681935" cy="1005840"/>
          </a:xfrm>
          <a:prstGeom prst="roundRect">
            <a:avLst>
              <a:gd name="adj" fmla="val 10909"/>
            </a:avLst>
          </a:prstGeom>
          <a:solidFill>
            <a:schemeClr val="bg1"/>
          </a:solidFill>
          <a:ln/>
          <a:effectLst>
            <a:outerShdw sx="100000" sy="100000" kx="0" ky="0" algn="bl" rotWithShape="0" blurRad="127000" dist="25400" dir="5400000">
              <a:srgbClr val="000000">
                <a:alpha val="7000"/>
              </a:srgbClr>
            </a:outerShdw>
          </a:effectLst>
        </p:spPr>
      </p:sp>
      <p:sp>
        <p:nvSpPr>
          <p:cNvPr id="44" name="Text 41"/>
          <p:cNvSpPr txBox="1"/>
          <p:nvPr/>
        </p:nvSpPr>
        <p:spPr>
          <a:xfrm>
            <a:off x="9125712" y="4087368"/>
            <a:ext cx="2352751"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Gemini image models</a:t>
            </a:r>
            <a:endParaRPr lang="en-US" sz="1400" dirty="0"/>
          </a:p>
        </p:txBody>
      </p:sp>
      <p:sp>
        <p:nvSpPr>
          <p:cNvPr id="45" name="Text 42"/>
          <p:cNvSpPr txBox="1"/>
          <p:nvPr/>
        </p:nvSpPr>
        <p:spPr>
          <a:xfrm>
            <a:off x="9125712" y="4407408"/>
            <a:ext cx="2352751" cy="50292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Concepts and photos, on Vertex AI</a:t>
            </a:r>
            <a:endParaRPr lang="en-US" sz="1400" dirty="0"/>
          </a:p>
        </p:txBody>
      </p:sp>
      <p:sp>
        <p:nvSpPr>
          <p:cNvPr id="46" name="API to Gemini image models"/>
          <p:cNvSpPr/>
          <p:nvPr/>
        </p:nvSpPr>
        <p:spPr>
          <a:xfrm>
            <a:off x="8586216" y="4453128"/>
            <a:ext cx="338328" cy="0"/>
          </a:xfrm>
          <a:prstGeom prst="line">
            <a:avLst/>
          </a:prstGeom>
          <a:noFill/>
          <a:ln w="22225">
            <a:solidFill>
              <a:schemeClr val="accent3"/>
            </a:solidFill>
            <a:prstDash val="solid"/>
            <a:tailEnd type="triangle"/>
          </a:ln>
        </p:spPr>
      </p:sp>
      <p:sp>
        <p:nvSpPr>
          <p:cNvPr id="47" name="Service Firestore · Cloud Storage"/>
          <p:cNvSpPr/>
          <p:nvPr/>
        </p:nvSpPr>
        <p:spPr>
          <a:xfrm>
            <a:off x="8961120" y="5120640"/>
            <a:ext cx="2681935" cy="1005840"/>
          </a:xfrm>
          <a:prstGeom prst="roundRect">
            <a:avLst>
              <a:gd name="adj" fmla="val 10909"/>
            </a:avLst>
          </a:prstGeom>
          <a:solidFill>
            <a:schemeClr val="bg1"/>
          </a:solidFill>
          <a:ln/>
          <a:effectLst>
            <a:outerShdw sx="100000" sy="100000" kx="0" ky="0" algn="bl" rotWithShape="0" blurRad="127000" dist="25400" dir="5400000">
              <a:srgbClr val="000000">
                <a:alpha val="7000"/>
              </a:srgbClr>
            </a:outerShdw>
          </a:effectLst>
        </p:spPr>
      </p:sp>
      <p:sp>
        <p:nvSpPr>
          <p:cNvPr id="48" name="Text 45"/>
          <p:cNvSpPr txBox="1"/>
          <p:nvPr/>
        </p:nvSpPr>
        <p:spPr>
          <a:xfrm>
            <a:off x="9125712" y="5230368"/>
            <a:ext cx="2352751" cy="310896"/>
          </a:xfrm>
          <a:prstGeom prst="rect">
            <a:avLst/>
          </a:prstGeom>
          <a:noFill/>
          <a:ln/>
        </p:spPr>
        <p:txBody>
          <a:bodyPr wrap="square" lIns="0" tIns="0" rIns="0" bIns="0" rtlCol="0" anchor="t"/>
          <a:lstStyle/>
          <a:p>
            <a:pPr algn="l" indent="0" marL="0">
              <a:lnSpc>
                <a:spcPct val="100000"/>
              </a:lnSpc>
              <a:buNone/>
            </a:pPr>
            <a:r>
              <a:rPr lang="en-US" sz="1400" b="1" dirty="0">
                <a:solidFill>
                  <a:schemeClr val="tx1"/>
                </a:solidFill>
              </a:rPr>
              <a:t>Firestore · Cloud Storage</a:t>
            </a:r>
            <a:endParaRPr lang="en-US" sz="1400" dirty="0"/>
          </a:p>
        </p:txBody>
      </p:sp>
      <p:sp>
        <p:nvSpPr>
          <p:cNvPr id="49" name="Text 46"/>
          <p:cNvSpPr txBox="1"/>
          <p:nvPr/>
        </p:nvSpPr>
        <p:spPr>
          <a:xfrm>
            <a:off x="9125712" y="5550408"/>
            <a:ext cx="2352751" cy="50292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Projects, versions, images</a:t>
            </a:r>
            <a:endParaRPr lang="en-US" sz="1400" dirty="0"/>
          </a:p>
        </p:txBody>
      </p:sp>
      <p:sp>
        <p:nvSpPr>
          <p:cNvPr id="50" name="API to Firestore · Cloud Storage"/>
          <p:cNvSpPr/>
          <p:nvPr/>
        </p:nvSpPr>
        <p:spPr>
          <a:xfrm>
            <a:off x="8586216" y="5596128"/>
            <a:ext cx="338328" cy="0"/>
          </a:xfrm>
          <a:prstGeom prst="line">
            <a:avLst/>
          </a:prstGeom>
          <a:noFill/>
          <a:ln w="22225">
            <a:solidFill>
              <a:schemeClr val="accent3"/>
            </a:solidFill>
            <a:prstDash val="solid"/>
            <a:tailEnd type="triangle"/>
          </a:ln>
        </p:spPr>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Who it's for</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Who it helps, and how it scales</a:t>
            </a:r>
            <a:endParaRPr lang="en-US" sz="3200" dirty="0"/>
          </a:p>
        </p:txBody>
      </p:sp>
      <p:sp>
        <p:nvSpPr>
          <p:cNvPr id="4" name="Audience Families"/>
          <p:cNvSpPr/>
          <p:nvPr/>
        </p:nvSpPr>
        <p:spPr>
          <a:xfrm>
            <a:off x="548640" y="1691640"/>
            <a:ext cx="3515258" cy="1828800"/>
          </a:xfrm>
          <a:prstGeom prst="roundRect">
            <a:avLst>
              <a:gd name="adj" fmla="val 6000"/>
            </a:avLst>
          </a:prstGeom>
          <a:solidFill>
            <a:schemeClr val="bg1"/>
          </a:solidFill>
          <a:ln/>
          <a:effectLst>
            <a:outerShdw sx="100000" sy="100000" kx="0" ky="0" algn="bl" rotWithShape="0" blurRad="127000" dist="25400" dir="5400000">
              <a:srgbClr val="000000">
                <a:alpha val="7000"/>
              </a:srgbClr>
            </a:outerShdw>
          </a:effectLst>
        </p:spPr>
      </p:sp>
      <p:sp>
        <p:nvSpPr>
          <p:cNvPr id="5" name="Icon circle LuHouse"/>
          <p:cNvSpPr/>
          <p:nvPr/>
        </p:nvSpPr>
        <p:spPr>
          <a:xfrm>
            <a:off x="777240" y="1920240"/>
            <a:ext cx="594360" cy="594360"/>
          </a:xfrm>
          <a:prstGeom prst="ellipse">
            <a:avLst/>
          </a:prstGeom>
          <a:solidFill>
            <a:schemeClr val="accent4"/>
          </a:solidFill>
          <a:ln/>
        </p:spPr>
      </p:sp>
      <p:pic>
        <p:nvPicPr>
          <p:cNvPr id="6" name="Icon LuHouse" descr="preencoded.png">    </p:cNvPr>
          <p:cNvPicPr>
            <a:picLocks noChangeAspect="1"/>
          </p:cNvPicPr>
          <p:nvPr/>
        </p:nvPicPr>
        <p:blipFill>
          <a:blip r:embed="rId1"/>
          <a:stretch>
            <a:fillRect/>
          </a:stretch>
        </p:blipFill>
        <p:spPr>
          <a:xfrm>
            <a:off x="919886" y="2062886"/>
            <a:ext cx="309067" cy="309067"/>
          </a:xfrm>
          <a:prstGeom prst="rect">
            <a:avLst/>
          </a:prstGeom>
        </p:spPr>
      </p:pic>
      <p:sp>
        <p:nvSpPr>
          <p:cNvPr id="7" name="Text 4"/>
          <p:cNvSpPr txBox="1"/>
          <p:nvPr/>
        </p:nvSpPr>
        <p:spPr>
          <a:xfrm>
            <a:off x="1508760" y="1920240"/>
            <a:ext cx="2326538" cy="594360"/>
          </a:xfrm>
          <a:prstGeom prst="rect">
            <a:avLst/>
          </a:prstGeom>
          <a:noFill/>
          <a:ln/>
        </p:spPr>
        <p:txBody>
          <a:bodyPr wrap="square" lIns="0" tIns="0" rIns="0" bIns="0" rtlCol="0" anchor="ctr"/>
          <a:lstStyle/>
          <a:p>
            <a:pPr algn="l" indent="0" marL="0">
              <a:lnSpc>
                <a:spcPct val="100000"/>
              </a:lnSpc>
              <a:buNone/>
            </a:pPr>
            <a:r>
              <a:rPr lang="en-US" sz="2000" b="1" dirty="0">
                <a:solidFill>
                  <a:schemeClr val="tx1"/>
                </a:solidFill>
              </a:rPr>
              <a:t>Families</a:t>
            </a:r>
            <a:endParaRPr lang="en-US" sz="2000" dirty="0"/>
          </a:p>
        </p:txBody>
      </p:sp>
      <p:sp>
        <p:nvSpPr>
          <p:cNvPr id="8" name="Text 5"/>
          <p:cNvSpPr txBox="1"/>
          <p:nvPr/>
        </p:nvSpPr>
        <p:spPr>
          <a:xfrm>
            <a:off x="777240" y="2651760"/>
            <a:ext cx="3058058" cy="77724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See and walk through the house before spending on bricks. Comment from a shared link.</a:t>
            </a:r>
            <a:endParaRPr lang="en-US" sz="1500" dirty="0"/>
          </a:p>
        </p:txBody>
      </p:sp>
      <p:sp>
        <p:nvSpPr>
          <p:cNvPr id="9" name="Audience Architects"/>
          <p:cNvSpPr/>
          <p:nvPr/>
        </p:nvSpPr>
        <p:spPr>
          <a:xfrm>
            <a:off x="4338218" y="1691640"/>
            <a:ext cx="3515258" cy="1828800"/>
          </a:xfrm>
          <a:prstGeom prst="roundRect">
            <a:avLst>
              <a:gd name="adj" fmla="val 6000"/>
            </a:avLst>
          </a:prstGeom>
          <a:solidFill>
            <a:schemeClr val="bg1"/>
          </a:solidFill>
          <a:ln/>
          <a:effectLst>
            <a:outerShdw sx="100000" sy="100000" kx="0" ky="0" algn="bl" rotWithShape="0" blurRad="127000" dist="25400" dir="5400000">
              <a:srgbClr val="000000">
                <a:alpha val="7000"/>
              </a:srgbClr>
            </a:outerShdw>
          </a:effectLst>
        </p:spPr>
      </p:sp>
      <p:sp>
        <p:nvSpPr>
          <p:cNvPr id="10" name="Icon circle LuDraftingCompass"/>
          <p:cNvSpPr/>
          <p:nvPr/>
        </p:nvSpPr>
        <p:spPr>
          <a:xfrm>
            <a:off x="4566818" y="1920240"/>
            <a:ext cx="594360" cy="594360"/>
          </a:xfrm>
          <a:prstGeom prst="ellipse">
            <a:avLst/>
          </a:prstGeom>
          <a:solidFill>
            <a:schemeClr val="accent4"/>
          </a:solidFill>
          <a:ln/>
        </p:spPr>
      </p:sp>
      <p:pic>
        <p:nvPicPr>
          <p:cNvPr id="11" name="Icon LuDraftingCompass" descr="preencoded.png">    </p:cNvPr>
          <p:cNvPicPr>
            <a:picLocks noChangeAspect="1"/>
          </p:cNvPicPr>
          <p:nvPr/>
        </p:nvPicPr>
        <p:blipFill>
          <a:blip r:embed="rId2"/>
          <a:stretch>
            <a:fillRect/>
          </a:stretch>
        </p:blipFill>
        <p:spPr>
          <a:xfrm>
            <a:off x="4709465" y="2062886"/>
            <a:ext cx="309067" cy="309067"/>
          </a:xfrm>
          <a:prstGeom prst="rect">
            <a:avLst/>
          </a:prstGeom>
        </p:spPr>
      </p:pic>
      <p:sp>
        <p:nvSpPr>
          <p:cNvPr id="12" name="Text 8"/>
          <p:cNvSpPr txBox="1"/>
          <p:nvPr/>
        </p:nvSpPr>
        <p:spPr>
          <a:xfrm>
            <a:off x="5298338" y="1920240"/>
            <a:ext cx="2326538" cy="594360"/>
          </a:xfrm>
          <a:prstGeom prst="rect">
            <a:avLst/>
          </a:prstGeom>
          <a:noFill/>
          <a:ln/>
        </p:spPr>
        <p:txBody>
          <a:bodyPr wrap="square" lIns="0" tIns="0" rIns="0" bIns="0" rtlCol="0" anchor="ctr"/>
          <a:lstStyle/>
          <a:p>
            <a:pPr algn="l" indent="0" marL="0">
              <a:lnSpc>
                <a:spcPct val="100000"/>
              </a:lnSpc>
              <a:buNone/>
            </a:pPr>
            <a:r>
              <a:rPr lang="en-US" sz="2000" b="1" dirty="0">
                <a:solidFill>
                  <a:schemeClr val="tx1"/>
                </a:solidFill>
              </a:rPr>
              <a:t>Architects</a:t>
            </a:r>
            <a:endParaRPr lang="en-US" sz="2000" dirty="0"/>
          </a:p>
        </p:txBody>
      </p:sp>
      <p:sp>
        <p:nvSpPr>
          <p:cNvPr id="13" name="Text 9"/>
          <p:cNvSpPr txBox="1"/>
          <p:nvPr/>
        </p:nvSpPr>
        <p:spPr>
          <a:xfrm>
            <a:off x="4566818" y="2651760"/>
            <a:ext cx="3058058" cy="77724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Bring a checked design to the first meeting, then revise it with the client.</a:t>
            </a:r>
            <a:endParaRPr lang="en-US" sz="1500" dirty="0"/>
          </a:p>
        </p:txBody>
      </p:sp>
      <p:sp>
        <p:nvSpPr>
          <p:cNvPr id="14" name="Audience Builders"/>
          <p:cNvSpPr/>
          <p:nvPr/>
        </p:nvSpPr>
        <p:spPr>
          <a:xfrm>
            <a:off x="8127797" y="1691640"/>
            <a:ext cx="3515258" cy="1828800"/>
          </a:xfrm>
          <a:prstGeom prst="roundRect">
            <a:avLst>
              <a:gd name="adj" fmla="val 6000"/>
            </a:avLst>
          </a:prstGeom>
          <a:solidFill>
            <a:schemeClr val="bg1"/>
          </a:solidFill>
          <a:ln/>
          <a:effectLst>
            <a:outerShdw sx="100000" sy="100000" kx="0" ky="0" algn="bl" rotWithShape="0" blurRad="127000" dist="25400" dir="5400000">
              <a:srgbClr val="000000">
                <a:alpha val="7000"/>
              </a:srgbClr>
            </a:outerShdw>
          </a:effectLst>
        </p:spPr>
      </p:sp>
      <p:sp>
        <p:nvSpPr>
          <p:cNvPr id="15" name="Icon circle LuHardHat"/>
          <p:cNvSpPr/>
          <p:nvPr/>
        </p:nvSpPr>
        <p:spPr>
          <a:xfrm>
            <a:off x="8356397" y="1920240"/>
            <a:ext cx="594360" cy="594360"/>
          </a:xfrm>
          <a:prstGeom prst="ellipse">
            <a:avLst/>
          </a:prstGeom>
          <a:solidFill>
            <a:schemeClr val="accent4"/>
          </a:solidFill>
          <a:ln/>
        </p:spPr>
      </p:sp>
      <p:pic>
        <p:nvPicPr>
          <p:cNvPr id="16" name="Icon LuHardHat" descr="preencoded.png">    </p:cNvPr>
          <p:cNvPicPr>
            <a:picLocks noChangeAspect="1"/>
          </p:cNvPicPr>
          <p:nvPr/>
        </p:nvPicPr>
        <p:blipFill>
          <a:blip r:embed="rId3"/>
          <a:stretch>
            <a:fillRect/>
          </a:stretch>
        </p:blipFill>
        <p:spPr>
          <a:xfrm>
            <a:off x="8499043" y="2062886"/>
            <a:ext cx="309067" cy="309067"/>
          </a:xfrm>
          <a:prstGeom prst="rect">
            <a:avLst/>
          </a:prstGeom>
        </p:spPr>
      </p:pic>
      <p:sp>
        <p:nvSpPr>
          <p:cNvPr id="17" name="Text 12"/>
          <p:cNvSpPr txBox="1"/>
          <p:nvPr/>
        </p:nvSpPr>
        <p:spPr>
          <a:xfrm>
            <a:off x="9087917" y="1920240"/>
            <a:ext cx="2326538" cy="594360"/>
          </a:xfrm>
          <a:prstGeom prst="rect">
            <a:avLst/>
          </a:prstGeom>
          <a:noFill/>
          <a:ln/>
        </p:spPr>
        <p:txBody>
          <a:bodyPr wrap="square" lIns="0" tIns="0" rIns="0" bIns="0" rtlCol="0" anchor="ctr"/>
          <a:lstStyle/>
          <a:p>
            <a:pPr algn="l" indent="0" marL="0">
              <a:lnSpc>
                <a:spcPct val="100000"/>
              </a:lnSpc>
              <a:buNone/>
            </a:pPr>
            <a:r>
              <a:rPr lang="en-US" sz="2000" b="1" dirty="0">
                <a:solidFill>
                  <a:schemeClr val="tx1"/>
                </a:solidFill>
              </a:rPr>
              <a:t>Builders</a:t>
            </a:r>
            <a:endParaRPr lang="en-US" sz="2000" dirty="0"/>
          </a:p>
        </p:txBody>
      </p:sp>
      <p:sp>
        <p:nvSpPr>
          <p:cNvPr id="18" name="Text 13"/>
          <p:cNvSpPr txBox="1"/>
          <p:nvPr/>
        </p:nvSpPr>
        <p:spPr>
          <a:xfrm>
            <a:off x="8356397" y="2651760"/>
            <a:ext cx="3058058" cy="77724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Sell and build from designs that buyers can walk through.</a:t>
            </a:r>
            <a:endParaRPr lang="en-US" sz="1500" dirty="0"/>
          </a:p>
        </p:txBody>
      </p:sp>
      <p:sp>
        <p:nvSpPr>
          <p:cNvPr id="19" name="Text 14"/>
          <p:cNvSpPr txBox="1"/>
          <p:nvPr/>
        </p:nvSpPr>
        <p:spPr>
          <a:xfrm>
            <a:off x="548640" y="3794760"/>
            <a:ext cx="11094415" cy="365760"/>
          </a:xfrm>
          <a:prstGeom prst="rect">
            <a:avLst/>
          </a:prstGeom>
          <a:noFill/>
          <a:ln/>
        </p:spPr>
        <p:txBody>
          <a:bodyPr wrap="square" lIns="0" tIns="0" rIns="0" bIns="0" rtlCol="0" anchor="t"/>
          <a:lstStyle/>
          <a:p>
            <a:pPr algn="l" indent="0" marL="0">
              <a:lnSpc>
                <a:spcPct val="100000"/>
              </a:lnSpc>
              <a:buNone/>
            </a:pPr>
            <a:r>
              <a:rPr lang="en-US" sz="1800" b="1" dirty="0">
                <a:solidFill>
                  <a:schemeClr val="tx1"/>
                </a:solidFill>
              </a:rPr>
              <a:t>Rules as data, so the same app scales city by city</a:t>
            </a:r>
            <a:endParaRPr lang="en-US" sz="1800" dirty="0"/>
          </a:p>
        </p:txBody>
      </p:sp>
      <p:sp>
        <p:nvSpPr>
          <p:cNvPr id="20" name="Scale Lahore"/>
          <p:cNvSpPr/>
          <p:nvPr/>
        </p:nvSpPr>
        <p:spPr>
          <a:xfrm>
            <a:off x="548640" y="4297680"/>
            <a:ext cx="2423160" cy="1143000"/>
          </a:xfrm>
          <a:prstGeom prst="roundRect">
            <a:avLst>
              <a:gd name="adj" fmla="val 9600"/>
            </a:avLst>
          </a:prstGeom>
          <a:solidFill>
            <a:schemeClr val="accent1"/>
          </a:solidFill>
          <a:ln/>
          <a:effectLst>
            <a:outerShdw sx="100000" sy="100000" kx="0" ky="0" algn="bl" rotWithShape="0" blurRad="127000" dist="25400" dir="5400000">
              <a:srgbClr val="000000">
                <a:alpha val="7000"/>
              </a:srgbClr>
            </a:outerShdw>
          </a:effectLst>
        </p:spPr>
      </p:sp>
      <p:sp>
        <p:nvSpPr>
          <p:cNvPr id="21" name="Text 16"/>
          <p:cNvSpPr txBox="1"/>
          <p:nvPr/>
        </p:nvSpPr>
        <p:spPr>
          <a:xfrm>
            <a:off x="731520" y="4407408"/>
            <a:ext cx="2057400" cy="36576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Lahore</a:t>
            </a:r>
            <a:endParaRPr lang="en-US" sz="1800" dirty="0"/>
          </a:p>
        </p:txBody>
      </p:sp>
      <p:sp>
        <p:nvSpPr>
          <p:cNvPr id="22" name="Text 17"/>
          <p:cNvSpPr txBox="1"/>
          <p:nvPr/>
        </p:nvSpPr>
        <p:spPr>
          <a:xfrm>
            <a:off x="731520" y="4773168"/>
            <a:ext cx="2057400" cy="594360"/>
          </a:xfrm>
          <a:prstGeom prst="rect">
            <a:avLst/>
          </a:prstGeom>
          <a:noFill/>
          <a:ln/>
        </p:spPr>
        <p:txBody>
          <a:bodyPr wrap="square" lIns="0" tIns="0" rIns="0" bIns="0" rtlCol="0" anchor="t"/>
          <a:lstStyle/>
          <a:p>
            <a:pPr algn="l" indent="0" marL="0">
              <a:lnSpc>
                <a:spcPct val="100000"/>
              </a:lnSpc>
              <a:buNone/>
            </a:pPr>
            <a:r>
              <a:rPr lang="en-US" sz="1400" dirty="0">
                <a:solidFill>
                  <a:schemeClr val="bg1"/>
                </a:solidFill>
              </a:rPr>
              <a:t>LDA pack, hand-verified, built in</a:t>
            </a:r>
            <a:endParaRPr lang="en-US" sz="1400" dirty="0"/>
          </a:p>
        </p:txBody>
      </p:sp>
      <p:sp>
        <p:nvSpPr>
          <p:cNvPr id="23" name="Scale arrow 1"/>
          <p:cNvSpPr/>
          <p:nvPr/>
        </p:nvSpPr>
        <p:spPr>
          <a:xfrm>
            <a:off x="3017520" y="4864608"/>
            <a:ext cx="375818" cy="0"/>
          </a:xfrm>
          <a:prstGeom prst="line">
            <a:avLst/>
          </a:prstGeom>
          <a:noFill/>
          <a:ln w="22225">
            <a:solidFill>
              <a:schemeClr val="accent1"/>
            </a:solidFill>
            <a:prstDash val="solid"/>
            <a:tailEnd type="triangle"/>
          </a:ln>
        </p:spPr>
      </p:sp>
      <p:sp>
        <p:nvSpPr>
          <p:cNvPr id="24" name="Scale Islamabad"/>
          <p:cNvSpPr/>
          <p:nvPr/>
        </p:nvSpPr>
        <p:spPr>
          <a:xfrm>
            <a:off x="3439058" y="4297680"/>
            <a:ext cx="2423160" cy="1143000"/>
          </a:xfrm>
          <a:prstGeom prst="roundRect">
            <a:avLst>
              <a:gd name="adj" fmla="val 9600"/>
            </a:avLst>
          </a:prstGeom>
          <a:solidFill>
            <a:schemeClr val="bg1"/>
          </a:solidFill>
          <a:ln/>
          <a:effectLst>
            <a:outerShdw sx="100000" sy="100000" kx="0" ky="0" algn="bl" rotWithShape="0" blurRad="127000" dist="25400" dir="5400000">
              <a:srgbClr val="000000">
                <a:alpha val="7000"/>
              </a:srgbClr>
            </a:outerShdw>
          </a:effectLst>
        </p:spPr>
      </p:sp>
      <p:sp>
        <p:nvSpPr>
          <p:cNvPr id="25" name="Text 20"/>
          <p:cNvSpPr txBox="1"/>
          <p:nvPr/>
        </p:nvSpPr>
        <p:spPr>
          <a:xfrm>
            <a:off x="3621938" y="4407408"/>
            <a:ext cx="2057400" cy="365760"/>
          </a:xfrm>
          <a:prstGeom prst="rect">
            <a:avLst/>
          </a:prstGeom>
          <a:noFill/>
          <a:ln/>
        </p:spPr>
        <p:txBody>
          <a:bodyPr wrap="square" lIns="0" tIns="0" rIns="0" bIns="0" rtlCol="0" anchor="t"/>
          <a:lstStyle/>
          <a:p>
            <a:pPr algn="l" indent="0" marL="0">
              <a:lnSpc>
                <a:spcPct val="100000"/>
              </a:lnSpc>
              <a:buNone/>
            </a:pPr>
            <a:r>
              <a:rPr lang="en-US" sz="1800" b="1" dirty="0">
                <a:solidFill>
                  <a:schemeClr val="tx1"/>
                </a:solidFill>
              </a:rPr>
              <a:t>Islamabad</a:t>
            </a:r>
            <a:endParaRPr lang="en-US" sz="1800" dirty="0"/>
          </a:p>
        </p:txBody>
      </p:sp>
      <p:sp>
        <p:nvSpPr>
          <p:cNvPr id="26" name="Text 21"/>
          <p:cNvSpPr txBox="1"/>
          <p:nvPr/>
        </p:nvSpPr>
        <p:spPr>
          <a:xfrm>
            <a:off x="3621938" y="4773168"/>
            <a:ext cx="2057400" cy="59436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CDA rules researched with Tavily in the demo</a:t>
            </a:r>
            <a:endParaRPr lang="en-US" sz="1400" dirty="0"/>
          </a:p>
        </p:txBody>
      </p:sp>
      <p:sp>
        <p:nvSpPr>
          <p:cNvPr id="27" name="Scale arrow 2"/>
          <p:cNvSpPr/>
          <p:nvPr/>
        </p:nvSpPr>
        <p:spPr>
          <a:xfrm>
            <a:off x="5907938" y="4864608"/>
            <a:ext cx="375818" cy="0"/>
          </a:xfrm>
          <a:prstGeom prst="line">
            <a:avLst/>
          </a:prstGeom>
          <a:noFill/>
          <a:ln w="22225">
            <a:solidFill>
              <a:schemeClr val="accent1"/>
            </a:solidFill>
            <a:prstDash val="solid"/>
            <a:tailEnd type="triangle"/>
          </a:ln>
        </p:spPr>
      </p:sp>
      <p:sp>
        <p:nvSpPr>
          <p:cNvPr id="28" name="Scale Pakistan"/>
          <p:cNvSpPr/>
          <p:nvPr/>
        </p:nvSpPr>
        <p:spPr>
          <a:xfrm>
            <a:off x="6329477" y="4297680"/>
            <a:ext cx="2423160" cy="1143000"/>
          </a:xfrm>
          <a:prstGeom prst="roundRect">
            <a:avLst>
              <a:gd name="adj" fmla="val 9600"/>
            </a:avLst>
          </a:prstGeom>
          <a:solidFill>
            <a:schemeClr val="bg1"/>
          </a:solidFill>
          <a:ln/>
          <a:effectLst>
            <a:outerShdw sx="100000" sy="100000" kx="0" ky="0" algn="bl" rotWithShape="0" blurRad="127000" dist="25400" dir="5400000">
              <a:srgbClr val="000000">
                <a:alpha val="7000"/>
              </a:srgbClr>
            </a:outerShdw>
          </a:effectLst>
        </p:spPr>
      </p:sp>
      <p:sp>
        <p:nvSpPr>
          <p:cNvPr id="29" name="Text 24"/>
          <p:cNvSpPr txBox="1"/>
          <p:nvPr/>
        </p:nvSpPr>
        <p:spPr>
          <a:xfrm>
            <a:off x="6512357" y="4407408"/>
            <a:ext cx="2057400" cy="365760"/>
          </a:xfrm>
          <a:prstGeom prst="rect">
            <a:avLst/>
          </a:prstGeom>
          <a:noFill/>
          <a:ln/>
        </p:spPr>
        <p:txBody>
          <a:bodyPr wrap="square" lIns="0" tIns="0" rIns="0" bIns="0" rtlCol="0" anchor="t"/>
          <a:lstStyle/>
          <a:p>
            <a:pPr algn="l" indent="0" marL="0">
              <a:lnSpc>
                <a:spcPct val="100000"/>
              </a:lnSpc>
              <a:buNone/>
            </a:pPr>
            <a:r>
              <a:rPr lang="en-US" sz="1800" b="1" dirty="0">
                <a:solidFill>
                  <a:schemeClr val="tx1"/>
                </a:solidFill>
              </a:rPr>
              <a:t>Pakistan</a:t>
            </a:r>
            <a:endParaRPr lang="en-US" sz="1800" dirty="0"/>
          </a:p>
        </p:txBody>
      </p:sp>
      <p:sp>
        <p:nvSpPr>
          <p:cNvPr id="30" name="Text 25"/>
          <p:cNvSpPr txBox="1"/>
          <p:nvPr/>
        </p:nvSpPr>
        <p:spPr>
          <a:xfrm>
            <a:off x="6512357" y="4773168"/>
            <a:ext cx="2057400" cy="59436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The other development authorities</a:t>
            </a:r>
            <a:endParaRPr lang="en-US" sz="1400" dirty="0"/>
          </a:p>
        </p:txBody>
      </p:sp>
      <p:sp>
        <p:nvSpPr>
          <p:cNvPr id="31" name="Scale arrow 3"/>
          <p:cNvSpPr/>
          <p:nvPr/>
        </p:nvSpPr>
        <p:spPr>
          <a:xfrm>
            <a:off x="8798357" y="4864608"/>
            <a:ext cx="375818" cy="0"/>
          </a:xfrm>
          <a:prstGeom prst="line">
            <a:avLst/>
          </a:prstGeom>
          <a:noFill/>
          <a:ln w="22225">
            <a:solidFill>
              <a:schemeClr val="accent1"/>
            </a:solidFill>
            <a:prstDash val="solid"/>
            <a:tailEnd type="triangle"/>
          </a:ln>
        </p:spPr>
      </p:sp>
      <p:sp>
        <p:nvSpPr>
          <p:cNvPr id="32" name="Scale Worldwide"/>
          <p:cNvSpPr/>
          <p:nvPr/>
        </p:nvSpPr>
        <p:spPr>
          <a:xfrm>
            <a:off x="9219895" y="4297680"/>
            <a:ext cx="2423160" cy="1143000"/>
          </a:xfrm>
          <a:prstGeom prst="roundRect">
            <a:avLst>
              <a:gd name="adj" fmla="val 9600"/>
            </a:avLst>
          </a:prstGeom>
          <a:solidFill>
            <a:schemeClr val="bg1"/>
          </a:solidFill>
          <a:ln/>
          <a:effectLst>
            <a:outerShdw sx="100000" sy="100000" kx="0" ky="0" algn="bl" rotWithShape="0" blurRad="127000" dist="25400" dir="5400000">
              <a:srgbClr val="000000">
                <a:alpha val="7000"/>
              </a:srgbClr>
            </a:outerShdw>
          </a:effectLst>
        </p:spPr>
      </p:sp>
      <p:sp>
        <p:nvSpPr>
          <p:cNvPr id="33" name="Text 28"/>
          <p:cNvSpPr txBox="1"/>
          <p:nvPr/>
        </p:nvSpPr>
        <p:spPr>
          <a:xfrm>
            <a:off x="9402775" y="4407408"/>
            <a:ext cx="2057400" cy="365760"/>
          </a:xfrm>
          <a:prstGeom prst="rect">
            <a:avLst/>
          </a:prstGeom>
          <a:noFill/>
          <a:ln/>
        </p:spPr>
        <p:txBody>
          <a:bodyPr wrap="square" lIns="0" tIns="0" rIns="0" bIns="0" rtlCol="0" anchor="t"/>
          <a:lstStyle/>
          <a:p>
            <a:pPr algn="l" indent="0" marL="0">
              <a:lnSpc>
                <a:spcPct val="100000"/>
              </a:lnSpc>
              <a:buNone/>
            </a:pPr>
            <a:r>
              <a:rPr lang="en-US" sz="1800" b="1" dirty="0">
                <a:solidFill>
                  <a:schemeClr val="tx1"/>
                </a:solidFill>
              </a:rPr>
              <a:t>Worldwide</a:t>
            </a:r>
            <a:endParaRPr lang="en-US" sz="1800" dirty="0"/>
          </a:p>
        </p:txBody>
      </p:sp>
      <p:sp>
        <p:nvSpPr>
          <p:cNvPr id="34" name="Text 29"/>
          <p:cNvSpPr txBox="1"/>
          <p:nvPr/>
        </p:nvSpPr>
        <p:spPr>
          <a:xfrm>
            <a:off x="9402775" y="4773168"/>
            <a:ext cx="2057400" cy="594360"/>
          </a:xfrm>
          <a:prstGeom prst="rect">
            <a:avLst/>
          </a:prstGeom>
          <a:noFill/>
          <a:ln/>
        </p:spPr>
        <p:txBody>
          <a:bodyPr wrap="square" lIns="0" tIns="0" rIns="0" bIns="0" rtlCol="0" anchor="t"/>
          <a:lstStyle/>
          <a:p>
            <a:pPr algn="l" indent="0" marL="0">
              <a:lnSpc>
                <a:spcPct val="100000"/>
              </a:lnSpc>
              <a:buNone/>
            </a:pPr>
            <a:r>
              <a:rPr lang="en-US" sz="1400" dirty="0">
                <a:solidFill>
                  <a:schemeClr val="tx2"/>
                </a:solidFill>
              </a:rPr>
              <a:t>Any city whose rules are published</a:t>
            </a:r>
            <a:endParaRPr lang="en-US" sz="1400" dirty="0"/>
          </a:p>
        </p:txBody>
      </p:sp>
      <p:sp>
        <p:nvSpPr>
          <p:cNvPr id="35" name="Text 30"/>
          <p:cNvSpPr txBox="1"/>
          <p:nvPr/>
        </p:nvSpPr>
        <p:spPr>
          <a:xfrm>
            <a:off x="548640" y="5623560"/>
            <a:ext cx="11094415" cy="502920"/>
          </a:xfrm>
          <a:prstGeom prst="rect">
            <a:avLst/>
          </a:prstGeom>
          <a:noFill/>
          <a:ln/>
        </p:spPr>
        <p:txBody>
          <a:bodyPr wrap="square" lIns="0" tIns="0" rIns="0" bIns="0" rtlCol="0" anchor="t"/>
          <a:lstStyle/>
          <a:p>
            <a:pPr algn="l" indent="0" marL="0">
              <a:lnSpc>
                <a:spcPct val="100000"/>
              </a:lnSpc>
              <a:buNone/>
            </a:pPr>
            <a:r>
              <a:rPr lang="en-US" sz="1400" dirty="0">
                <a:solidFill>
                  <a:schemeClr val="accent3"/>
                </a:solidFill>
              </a:rPr>
              <a:t>Naqsha makes concept designs and a regulation pre-check. A registered architect still signs the plans, and researched rule packs should be confirmed with the authority.</a:t>
            </a:r>
            <a:endParaRPr lang="en-US" sz="14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What's next</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What we're building next</a:t>
            </a:r>
            <a:endParaRPr lang="en-US" sz="3200" dirty="0"/>
          </a:p>
        </p:txBody>
      </p:sp>
      <p:sp>
        <p:nvSpPr>
          <p:cNvPr id="4" name="Next Reviewed rule packs"/>
          <p:cNvSpPr/>
          <p:nvPr/>
        </p:nvSpPr>
        <p:spPr>
          <a:xfrm>
            <a:off x="548640" y="1691640"/>
            <a:ext cx="2567864" cy="3017520"/>
          </a:xfrm>
          <a:prstGeom prst="roundRect">
            <a:avLst>
              <a:gd name="adj" fmla="val 4273"/>
            </a:avLst>
          </a:prstGeom>
          <a:solidFill>
            <a:schemeClr val="bg1"/>
          </a:solidFill>
          <a:ln/>
          <a:effectLst>
            <a:outerShdw sx="100000" sy="100000" kx="0" ky="0" algn="bl" rotWithShape="0" blurRad="127000" dist="25400" dir="5400000">
              <a:srgbClr val="000000">
                <a:alpha val="7000"/>
              </a:srgbClr>
            </a:outerShdw>
          </a:effectLst>
        </p:spPr>
      </p:sp>
      <p:sp>
        <p:nvSpPr>
          <p:cNvPr id="5" name="Icon circle LuScrollText"/>
          <p:cNvSpPr/>
          <p:nvPr/>
        </p:nvSpPr>
        <p:spPr>
          <a:xfrm>
            <a:off x="822960" y="1965960"/>
            <a:ext cx="640080" cy="640080"/>
          </a:xfrm>
          <a:prstGeom prst="ellipse">
            <a:avLst/>
          </a:prstGeom>
          <a:solidFill>
            <a:schemeClr val="accent4"/>
          </a:solidFill>
          <a:ln/>
        </p:spPr>
      </p:sp>
      <p:pic>
        <p:nvPicPr>
          <p:cNvPr id="6" name="Icon LuScrollText"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7" name="Text 4"/>
          <p:cNvSpPr txBox="1"/>
          <p:nvPr/>
        </p:nvSpPr>
        <p:spPr>
          <a:xfrm>
            <a:off x="822960" y="2743200"/>
            <a:ext cx="2019224" cy="68580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Reviewed rule packs</a:t>
            </a:r>
            <a:endParaRPr lang="en-US" sz="2000" dirty="0"/>
          </a:p>
        </p:txBody>
      </p:sp>
      <p:sp>
        <p:nvSpPr>
          <p:cNvPr id="8" name="Text 5"/>
          <p:cNvSpPr txBox="1"/>
          <p:nvPr/>
        </p:nvSpPr>
        <p:spPr>
          <a:xfrm>
            <a:off x="822960" y="3474720"/>
            <a:ext cx="2019224" cy="1143000"/>
          </a:xfrm>
          <a:prstGeom prst="rect">
            <a:avLst/>
          </a:prstGeom>
          <a:noFill/>
          <a:ln/>
        </p:spPr>
        <p:txBody>
          <a:bodyPr wrap="square" lIns="0" tIns="0" rIns="0" bIns="0" rtlCol="0" anchor="t"/>
          <a:lstStyle/>
          <a:p>
            <a:pPr algn="l" indent="0" marL="0">
              <a:lnSpc>
                <a:spcPct val="100000"/>
              </a:lnSpc>
              <a:buNone/>
            </a:pPr>
            <a:r>
              <a:rPr lang="en-US" sz="1500" dirty="0">
                <a:solidFill>
                  <a:schemeClr val="tx2"/>
                </a:solidFill>
              </a:rPr>
              <a:t>Local architects review the packs for Karachi, Islamabad, Rawalpindi and Faisalabad.</a:t>
            </a:r>
            <a:endParaRPr lang="en-US" sz="1500" dirty="0"/>
          </a:p>
        </p:txBody>
      </p:sp>
      <p:sp>
        <p:nvSpPr>
          <p:cNvPr id="9" name="Next Structural and MEP drafts"/>
          <p:cNvSpPr/>
          <p:nvPr/>
        </p:nvSpPr>
        <p:spPr>
          <a:xfrm>
            <a:off x="3390824" y="1691640"/>
            <a:ext cx="2567864" cy="3017520"/>
          </a:xfrm>
          <a:prstGeom prst="roundRect">
            <a:avLst>
              <a:gd name="adj" fmla="val 4273"/>
            </a:avLst>
          </a:prstGeom>
          <a:solidFill>
            <a:schemeClr val="bg1"/>
          </a:solidFill>
          <a:ln/>
          <a:effectLst>
            <a:outerShdw sx="100000" sy="100000" kx="0" ky="0" algn="bl" rotWithShape="0" blurRad="127000" dist="25400" dir="5400000">
              <a:srgbClr val="000000">
                <a:alpha val="7000"/>
              </a:srgbClr>
            </a:outerShdw>
          </a:effectLst>
        </p:spPr>
      </p:sp>
      <p:sp>
        <p:nvSpPr>
          <p:cNvPr id="10" name="Icon circle LuBrickWall"/>
          <p:cNvSpPr/>
          <p:nvPr/>
        </p:nvSpPr>
        <p:spPr>
          <a:xfrm>
            <a:off x="3665144" y="1965960"/>
            <a:ext cx="640080" cy="640080"/>
          </a:xfrm>
          <a:prstGeom prst="ellipse">
            <a:avLst/>
          </a:prstGeom>
          <a:solidFill>
            <a:schemeClr val="accent4"/>
          </a:solidFill>
          <a:ln/>
        </p:spPr>
      </p:sp>
      <p:pic>
        <p:nvPicPr>
          <p:cNvPr id="11" name="Icon LuBrickWall" descr="preencoded.png">    </p:cNvPr>
          <p:cNvPicPr>
            <a:picLocks noChangeAspect="1"/>
          </p:cNvPicPr>
          <p:nvPr/>
        </p:nvPicPr>
        <p:blipFill>
          <a:blip r:embed="rId2"/>
          <a:stretch>
            <a:fillRect/>
          </a:stretch>
        </p:blipFill>
        <p:spPr>
          <a:xfrm>
            <a:off x="3818763" y="2119579"/>
            <a:ext cx="332842" cy="332842"/>
          </a:xfrm>
          <a:prstGeom prst="rect">
            <a:avLst/>
          </a:prstGeom>
        </p:spPr>
      </p:pic>
      <p:sp>
        <p:nvSpPr>
          <p:cNvPr id="12" name="Text 8"/>
          <p:cNvSpPr txBox="1"/>
          <p:nvPr/>
        </p:nvSpPr>
        <p:spPr>
          <a:xfrm>
            <a:off x="3665144" y="2743200"/>
            <a:ext cx="2019224" cy="68580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Structural and MEP drafts</a:t>
            </a:r>
            <a:endParaRPr lang="en-US" sz="2000" dirty="0"/>
          </a:p>
        </p:txBody>
      </p:sp>
      <p:sp>
        <p:nvSpPr>
          <p:cNvPr id="13" name="Text 9"/>
          <p:cNvSpPr txBox="1"/>
          <p:nvPr/>
        </p:nvSpPr>
        <p:spPr>
          <a:xfrm>
            <a:off x="3665144" y="3474720"/>
            <a:ext cx="2019224" cy="1143000"/>
          </a:xfrm>
          <a:prstGeom prst="rect">
            <a:avLst/>
          </a:prstGeom>
          <a:noFill/>
          <a:ln/>
        </p:spPr>
        <p:txBody>
          <a:bodyPr wrap="square" lIns="0" tIns="0" rIns="0" bIns="0" rtlCol="0" anchor="t"/>
          <a:lstStyle/>
          <a:p>
            <a:pPr algn="l" indent="0" marL="0">
              <a:lnSpc>
                <a:spcPct val="100000"/>
              </a:lnSpc>
              <a:buNone/>
            </a:pPr>
            <a:r>
              <a:rPr lang="en-US" sz="1500" dirty="0">
                <a:solidFill>
                  <a:schemeClr val="tx2"/>
                </a:solidFill>
              </a:rPr>
              <a:t>Structure, plumbing and electrical drafts from the same plan.</a:t>
            </a:r>
            <a:endParaRPr lang="en-US" sz="1500" dirty="0"/>
          </a:p>
        </p:txBody>
      </p:sp>
      <p:sp>
        <p:nvSpPr>
          <p:cNvPr id="14" name="Next Bills of quantities"/>
          <p:cNvSpPr/>
          <p:nvPr/>
        </p:nvSpPr>
        <p:spPr>
          <a:xfrm>
            <a:off x="6233008" y="1691640"/>
            <a:ext cx="2567864" cy="3017520"/>
          </a:xfrm>
          <a:prstGeom prst="roundRect">
            <a:avLst>
              <a:gd name="adj" fmla="val 4273"/>
            </a:avLst>
          </a:prstGeom>
          <a:solidFill>
            <a:schemeClr val="bg1"/>
          </a:solidFill>
          <a:ln/>
          <a:effectLst>
            <a:outerShdw sx="100000" sy="100000" kx="0" ky="0" algn="bl" rotWithShape="0" blurRad="127000" dist="25400" dir="5400000">
              <a:srgbClr val="000000">
                <a:alpha val="7000"/>
              </a:srgbClr>
            </a:outerShdw>
          </a:effectLst>
        </p:spPr>
      </p:sp>
      <p:sp>
        <p:nvSpPr>
          <p:cNvPr id="15" name="Icon circle LuCalculator"/>
          <p:cNvSpPr/>
          <p:nvPr/>
        </p:nvSpPr>
        <p:spPr>
          <a:xfrm>
            <a:off x="6507328" y="1965960"/>
            <a:ext cx="640080" cy="640080"/>
          </a:xfrm>
          <a:prstGeom prst="ellipse">
            <a:avLst/>
          </a:prstGeom>
          <a:solidFill>
            <a:schemeClr val="accent4"/>
          </a:solidFill>
          <a:ln/>
        </p:spPr>
      </p:sp>
      <p:pic>
        <p:nvPicPr>
          <p:cNvPr id="16" name="Icon LuCalculator" descr="preencoded.png">    </p:cNvPr>
          <p:cNvPicPr>
            <a:picLocks noChangeAspect="1"/>
          </p:cNvPicPr>
          <p:nvPr/>
        </p:nvPicPr>
        <p:blipFill>
          <a:blip r:embed="rId3"/>
          <a:stretch>
            <a:fillRect/>
          </a:stretch>
        </p:blipFill>
        <p:spPr>
          <a:xfrm>
            <a:off x="6660947" y="2119579"/>
            <a:ext cx="332842" cy="332842"/>
          </a:xfrm>
          <a:prstGeom prst="rect">
            <a:avLst/>
          </a:prstGeom>
        </p:spPr>
      </p:pic>
      <p:sp>
        <p:nvSpPr>
          <p:cNvPr id="17" name="Text 12"/>
          <p:cNvSpPr txBox="1"/>
          <p:nvPr/>
        </p:nvSpPr>
        <p:spPr>
          <a:xfrm>
            <a:off x="6507328" y="2743200"/>
            <a:ext cx="2019224" cy="68580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Bills of quantities</a:t>
            </a:r>
            <a:endParaRPr lang="en-US" sz="2000" dirty="0"/>
          </a:p>
        </p:txBody>
      </p:sp>
      <p:sp>
        <p:nvSpPr>
          <p:cNvPr id="18" name="Text 13"/>
          <p:cNvSpPr txBox="1"/>
          <p:nvPr/>
        </p:nvSpPr>
        <p:spPr>
          <a:xfrm>
            <a:off x="6507328" y="3474720"/>
            <a:ext cx="2019224" cy="1143000"/>
          </a:xfrm>
          <a:prstGeom prst="rect">
            <a:avLst/>
          </a:prstGeom>
          <a:noFill/>
          <a:ln/>
        </p:spPr>
        <p:txBody>
          <a:bodyPr wrap="square" lIns="0" tIns="0" rIns="0" bIns="0" rtlCol="0" anchor="t"/>
          <a:lstStyle/>
          <a:p>
            <a:pPr algn="l" indent="0" marL="0">
              <a:lnSpc>
                <a:spcPct val="100000"/>
              </a:lnSpc>
              <a:buNone/>
            </a:pPr>
            <a:r>
              <a:rPr lang="en-US" sz="1500" dirty="0">
                <a:solidFill>
                  <a:schemeClr val="tx2"/>
                </a:solidFill>
              </a:rPr>
              <a:t>Quantities for every home, priced with local rates.</a:t>
            </a:r>
            <a:endParaRPr lang="en-US" sz="1500" dirty="0"/>
          </a:p>
        </p:txBody>
      </p:sp>
      <p:sp>
        <p:nvSpPr>
          <p:cNvPr id="19" name="Next Nebius Serverless Jobs"/>
          <p:cNvSpPr/>
          <p:nvPr/>
        </p:nvSpPr>
        <p:spPr>
          <a:xfrm>
            <a:off x="9075191" y="1691640"/>
            <a:ext cx="2567864" cy="3017520"/>
          </a:xfrm>
          <a:prstGeom prst="roundRect">
            <a:avLst>
              <a:gd name="adj" fmla="val 4273"/>
            </a:avLst>
          </a:prstGeom>
          <a:solidFill>
            <a:schemeClr val="bg1"/>
          </a:solidFill>
          <a:ln/>
          <a:effectLst>
            <a:outerShdw sx="100000" sy="100000" kx="0" ky="0" algn="bl" rotWithShape="0" blurRad="127000" dist="25400" dir="5400000">
              <a:srgbClr val="000000">
                <a:alpha val="7000"/>
              </a:srgbClr>
            </a:outerShdw>
          </a:effectLst>
        </p:spPr>
      </p:sp>
      <p:sp>
        <p:nvSpPr>
          <p:cNvPr id="20" name="Icon circle LuServer"/>
          <p:cNvSpPr/>
          <p:nvPr/>
        </p:nvSpPr>
        <p:spPr>
          <a:xfrm>
            <a:off x="9349511" y="1965960"/>
            <a:ext cx="640080" cy="640080"/>
          </a:xfrm>
          <a:prstGeom prst="ellipse">
            <a:avLst/>
          </a:prstGeom>
          <a:solidFill>
            <a:schemeClr val="accent4"/>
          </a:solidFill>
          <a:ln/>
        </p:spPr>
      </p:sp>
      <p:pic>
        <p:nvPicPr>
          <p:cNvPr id="21" name="Icon LuServer" descr="preencoded.png">    </p:cNvPr>
          <p:cNvPicPr>
            <a:picLocks noChangeAspect="1"/>
          </p:cNvPicPr>
          <p:nvPr/>
        </p:nvPicPr>
        <p:blipFill>
          <a:blip r:embed="rId4"/>
          <a:stretch>
            <a:fillRect/>
          </a:stretch>
        </p:blipFill>
        <p:spPr>
          <a:xfrm>
            <a:off x="9503131" y="2119579"/>
            <a:ext cx="332842" cy="332842"/>
          </a:xfrm>
          <a:prstGeom prst="rect">
            <a:avLst/>
          </a:prstGeom>
        </p:spPr>
      </p:pic>
      <p:sp>
        <p:nvSpPr>
          <p:cNvPr id="22" name="Text 16"/>
          <p:cNvSpPr txBox="1"/>
          <p:nvPr/>
        </p:nvSpPr>
        <p:spPr>
          <a:xfrm>
            <a:off x="9349511" y="2743200"/>
            <a:ext cx="2019224" cy="68580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Nebius Serverless Jobs</a:t>
            </a:r>
            <a:endParaRPr lang="en-US" sz="2000" dirty="0"/>
          </a:p>
        </p:txBody>
      </p:sp>
      <p:sp>
        <p:nvSpPr>
          <p:cNvPr id="23" name="Text 17"/>
          <p:cNvSpPr txBox="1"/>
          <p:nvPr/>
        </p:nvSpPr>
        <p:spPr>
          <a:xfrm>
            <a:off x="9349511" y="3474720"/>
            <a:ext cx="2019224" cy="1143000"/>
          </a:xfrm>
          <a:prstGeom prst="rect">
            <a:avLst/>
          </a:prstGeom>
          <a:noFill/>
          <a:ln/>
        </p:spPr>
        <p:txBody>
          <a:bodyPr wrap="square" lIns="0" tIns="0" rIns="0" bIns="0" rtlCol="0" anchor="t"/>
          <a:lstStyle/>
          <a:p>
            <a:pPr algn="l" indent="0" marL="0">
              <a:lnSpc>
                <a:spcPct val="100000"/>
              </a:lnSpc>
              <a:buNone/>
            </a:pPr>
            <a:r>
              <a:rPr lang="en-US" sz="1500" dirty="0">
                <a:solidFill>
                  <a:schemeClr val="tx2"/>
                </a:solidFill>
              </a:rPr>
              <a:t>The long design runs move off the web server and onto Serverless Jobs.</a:t>
            </a:r>
            <a:endParaRPr lang="en-US" sz="1500" dirty="0"/>
          </a:p>
        </p:txBody>
      </p:sp>
      <p:pic>
        <p:nvPicPr>
          <p:cNvPr id="24" name="photo-garden.jpg" descr="Garden photo of the Islamabad home">    </p:cNvPr>
          <p:cNvPicPr>
            <a:picLocks noChangeAspect="1"/>
          </p:cNvPicPr>
          <p:nvPr/>
        </p:nvPicPr>
        <p:blipFill>
          <a:blip r:embed="rId5"/>
          <a:stretch>
            <a:fillRect/>
          </a:stretch>
        </p:blipFill>
        <p:spPr>
          <a:xfrm>
            <a:off x="548640" y="4983480"/>
            <a:ext cx="2129790" cy="1188720"/>
          </a:xfrm>
          <a:prstGeom prst="rect">
            <a:avLst/>
          </a:prstGeom>
        </p:spPr>
      </p:pic>
      <p:sp>
        <p:nvSpPr>
          <p:cNvPr id="25" name="Text 18"/>
          <p:cNvSpPr txBox="1"/>
          <p:nvPr/>
        </p:nvSpPr>
        <p:spPr>
          <a:xfrm>
            <a:off x="2971800" y="4983480"/>
            <a:ext cx="8671255" cy="1188720"/>
          </a:xfrm>
          <a:prstGeom prst="rect">
            <a:avLst/>
          </a:prstGeom>
          <a:noFill/>
          <a:ln/>
        </p:spPr>
        <p:txBody>
          <a:bodyPr wrap="square" lIns="0" tIns="0" rIns="0" bIns="0" rtlCol="0" anchor="ctr"/>
          <a:lstStyle/>
          <a:p>
            <a:pPr algn="l" indent="0" marL="0">
              <a:lnSpc>
                <a:spcPct val="110000"/>
              </a:lnSpc>
              <a:buNone/>
            </a:pPr>
            <a:r>
              <a:rPr lang="en-US" sz="1800" dirty="0">
                <a:solidFill>
                  <a:schemeClr val="tx1"/>
                </a:solidFill>
              </a:rPr>
              <a:t>The goal: a family gets a checked plan, a costed house and a walk-through before the first meeting with a builder.</a:t>
            </a:r>
            <a:endParaRPr lang="en-US" sz="18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11094415" cy="292608"/>
          </a:xfrm>
          <a:prstGeom prst="rect">
            <a:avLst/>
          </a:prstGeom>
          <a:noFill/>
          <a:ln/>
        </p:spPr>
        <p:txBody>
          <a:bodyPr wrap="square" lIns="0" tIns="0" rIns="0" bIns="0" rtlCol="0" anchor="t"/>
          <a:lstStyle/>
          <a:p>
            <a:pPr algn="l" indent="0" marL="0">
              <a:buNone/>
            </a:pPr>
            <a:r>
              <a:rPr lang="en-US" sz="1400" b="1" dirty="0">
                <a:solidFill>
                  <a:schemeClr val="accent1"/>
                </a:solidFill>
              </a:rPr>
              <a:t>How to test</a:t>
            </a:r>
            <a:endParaRPr lang="en-US" sz="1400" dirty="0"/>
          </a:p>
        </p:txBody>
      </p:sp>
      <p:sp>
        <p:nvSpPr>
          <p:cNvPr id="3" name="Text 2"/>
          <p:cNvSpPr/>
          <p:nvPr>
            <p:ph idx="104"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Try it now. No account needed</a:t>
            </a:r>
            <a:endParaRPr lang="en-US" sz="3200" dirty="0"/>
          </a:p>
        </p:txBody>
      </p:sp>
      <p:sp>
        <p:nvSpPr>
          <p:cNvPr id="4" name="QR card"/>
          <p:cNvSpPr/>
          <p:nvPr/>
        </p:nvSpPr>
        <p:spPr>
          <a:xfrm>
            <a:off x="548640" y="1691640"/>
            <a:ext cx="2743200" cy="4434840"/>
          </a:xfrm>
          <a:prstGeom prst="roundRect">
            <a:avLst>
              <a:gd name="adj" fmla="val 4000"/>
            </a:avLst>
          </a:prstGeom>
          <a:solidFill>
            <a:schemeClr val="bg1"/>
          </a:solidFill>
          <a:ln/>
          <a:effectLst>
            <a:outerShdw sx="100000" sy="100000" kx="0" ky="0" algn="bl" rotWithShape="0" blurRad="127000" dist="25400" dir="5400000">
              <a:srgbClr val="000000">
                <a:alpha val="7000"/>
              </a:srgbClr>
            </a:outerShdw>
          </a:effectLst>
        </p:spPr>
      </p:sp>
      <p:pic>
        <p:nvPicPr>
          <p:cNvPr id="5" name="qr-live.png" descr="QR code for the live app">
            <a:hlinkClick r:id="rId2" tooltip=""/>
          </p:cNvPr>
          <p:cNvPicPr>
            <a:picLocks noChangeAspect="1"/>
          </p:cNvPicPr>
          <p:nvPr/>
        </p:nvPicPr>
        <p:blipFill>
          <a:blip r:embed="rId1"/>
          <a:stretch>
            <a:fillRect/>
          </a:stretch>
        </p:blipFill>
        <p:spPr>
          <a:xfrm>
            <a:off x="868680" y="1920240"/>
            <a:ext cx="2103120" cy="2103120"/>
          </a:xfrm>
          <a:prstGeom prst="rect">
            <a:avLst/>
          </a:prstGeom>
        </p:spPr>
      </p:pic>
      <p:sp>
        <p:nvSpPr>
          <p:cNvPr id="6" name="Text 3"/>
          <p:cNvSpPr txBox="1"/>
          <p:nvPr/>
        </p:nvSpPr>
        <p:spPr>
          <a:xfrm>
            <a:off x="731520" y="4206240"/>
            <a:ext cx="2377440" cy="548640"/>
          </a:xfrm>
          <a:prstGeom prst="rect">
            <a:avLst/>
          </a:prstGeom>
          <a:noFill/>
          <a:ln/>
        </p:spPr>
        <p:txBody>
          <a:bodyPr wrap="square" lIns="0" tIns="0" rIns="0" bIns="0" rtlCol="0" anchor="t"/>
          <a:lstStyle/>
          <a:p>
            <a:pPr algn="ctr" indent="0" marL="0">
              <a:lnSpc>
                <a:spcPct val="100000"/>
              </a:lnSpc>
              <a:buNone/>
            </a:pPr>
            <a:r>
              <a:rPr lang="en-US" sz="1400" b="1" dirty="0">
                <a:solidFill>
                  <a:schemeClr val="accent1"/>
                </a:solidFill>
              </a:rPr>
              <a:t>naqsha-963839790554</a:t>
            </a:r>
            <a:endParaRPr lang="en-US" sz="1400" dirty="0"/>
          </a:p>
          <a:p>
            <a:pPr algn="ctr" indent="0" marL="0">
              <a:lnSpc>
                <a:spcPct val="100000"/>
              </a:lnSpc>
              <a:buNone/>
            </a:pPr>
            <a:r>
              <a:rPr lang="en-US" sz="1400" b="1" dirty="0">
                <a:solidFill>
                  <a:schemeClr val="accent1"/>
                </a:solidFill>
              </a:rPr>
              <a:t>.us-central1.run.app</a:t>
            </a:r>
            <a:endParaRPr lang="en-US" sz="1400" dirty="0"/>
          </a:p>
        </p:txBody>
      </p:sp>
      <p:sp>
        <p:nvSpPr>
          <p:cNvPr id="7" name="Text 4"/>
          <p:cNvSpPr txBox="1"/>
          <p:nvPr/>
        </p:nvSpPr>
        <p:spPr>
          <a:xfrm>
            <a:off x="822960" y="5074920"/>
            <a:ext cx="2194560" cy="731520"/>
          </a:xfrm>
          <a:prstGeom prst="rect">
            <a:avLst/>
          </a:prstGeom>
          <a:noFill/>
          <a:ln/>
        </p:spPr>
        <p:txBody>
          <a:bodyPr wrap="square" lIns="0" tIns="0" rIns="0" bIns="0" rtlCol="0" anchor="t"/>
          <a:lstStyle/>
          <a:p>
            <a:pPr algn="ctr" indent="0" marL="0">
              <a:lnSpc>
                <a:spcPct val="100000"/>
              </a:lnSpc>
              <a:buNone/>
            </a:pPr>
            <a:r>
              <a:rPr lang="en-US" sz="1400" dirty="0">
                <a:solidFill>
                  <a:schemeClr val="accent3"/>
                </a:solidFill>
              </a:rPr>
              <a:t>Free and open until judging ends.</a:t>
            </a:r>
            <a:endParaRPr lang="en-US" sz="1400" dirty="0"/>
          </a:p>
        </p:txBody>
      </p:sp>
      <p:sp>
        <p:nvSpPr>
          <p:cNvPr id="8" name="Test 1"/>
          <p:cNvSpPr/>
          <p:nvPr/>
        </p:nvSpPr>
        <p:spPr>
          <a:xfrm>
            <a:off x="3566160" y="1691640"/>
            <a:ext cx="2539898" cy="4434840"/>
          </a:xfrm>
          <a:prstGeom prst="roundRect">
            <a:avLst>
              <a:gd name="adj" fmla="val 4320"/>
            </a:avLst>
          </a:prstGeom>
          <a:solidFill>
            <a:schemeClr val="bg1"/>
          </a:solidFill>
          <a:ln/>
          <a:effectLst>
            <a:outerShdw sx="100000" sy="100000" kx="0" ky="0" algn="bl" rotWithShape="0" blurRad="127000" dist="25400" dir="5400000">
              <a:srgbClr val="000000">
                <a:alpha val="7000"/>
              </a:srgbClr>
            </a:outerShdw>
          </a:effectLst>
        </p:spPr>
      </p:sp>
      <p:sp>
        <p:nvSpPr>
          <p:cNvPr id="9" name="Step 1"/>
          <p:cNvSpPr txBox="1"/>
          <p:nvPr/>
        </p:nvSpPr>
        <p:spPr>
          <a:xfrm>
            <a:off x="3794760" y="19659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3794760" y="2560320"/>
            <a:ext cx="2082698" cy="68580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Explore a sample home</a:t>
            </a:r>
            <a:endParaRPr lang="en-US" sz="1900" dirty="0"/>
          </a:p>
        </p:txBody>
      </p:sp>
      <p:sp>
        <p:nvSpPr>
          <p:cNvPr id="11" name="Text 8"/>
          <p:cNvSpPr txBox="1"/>
          <p:nvPr/>
        </p:nvSpPr>
        <p:spPr>
          <a:xfrm>
            <a:off x="3794760" y="3337560"/>
            <a:ext cx="2082698" cy="2651760"/>
          </a:xfrm>
          <a:prstGeom prst="rect">
            <a:avLst/>
          </a:prstGeom>
          <a:noFill/>
          <a:ln/>
        </p:spPr>
        <p:txBody>
          <a:bodyPr wrap="square" lIns="0" tIns="0" rIns="0" bIns="0" rtlCol="0" anchor="t"/>
          <a:lstStyle/>
          <a:p>
            <a:pPr algn="l" indent="0" marL="0">
              <a:lnSpc>
                <a:spcPct val="110000"/>
              </a:lnSpc>
              <a:buNone/>
            </a:pPr>
            <a:r>
              <a:rPr lang="en-US" sz="1500" dirty="0">
                <a:solidFill>
                  <a:schemeClr val="tx2"/>
                </a:solidFill>
              </a:rPr>
              <a:t>Click </a:t>
            </a:r>
            <a:pPr algn="l" indent="0" marL="0">
              <a:lnSpc>
                <a:spcPct val="110000"/>
              </a:lnSpc>
              <a:buNone/>
            </a:pPr>
            <a:r>
              <a:rPr lang="en-US" sz="1500" b="1" dirty="0">
                <a:solidFill>
                  <a:schemeClr val="tx1"/>
                </a:solidFill>
              </a:rPr>
              <a:t>Explore a sample home</a:t>
            </a:r>
            <a:pPr algn="l" indent="0" marL="0">
              <a:lnSpc>
                <a:spcPct val="110000"/>
              </a:lnSpc>
              <a:buNone/>
            </a:pPr>
            <a:r>
              <a:rPr lang="en-US" sz="1500" dirty="0">
                <a:solidFill>
                  <a:schemeClr val="tx2"/>
                </a:solidFill>
              </a:rPr>
              <a:t>. It opens the Islamabad house. Try </a:t>
            </a:r>
            <a:pPr algn="l" indent="0" marL="0">
              <a:lnSpc>
                <a:spcPct val="110000"/>
              </a:lnSpc>
              <a:buNone/>
            </a:pPr>
            <a:r>
              <a:rPr lang="en-US" sz="1500" b="1" dirty="0">
                <a:solidFill>
                  <a:schemeClr val="tx1"/>
                </a:solidFill>
              </a:rPr>
              <a:t>Walk</a:t>
            </a:r>
            <a:pPr algn="l" indent="0" marL="0">
              <a:lnSpc>
                <a:spcPct val="110000"/>
              </a:lnSpc>
              <a:buNone/>
            </a:pPr>
            <a:r>
              <a:rPr lang="en-US" sz="1500" dirty="0">
                <a:solidFill>
                  <a:schemeClr val="tx2"/>
                </a:solidFill>
              </a:rPr>
              <a:t>, open </a:t>
            </a:r>
            <a:pPr algn="l" indent="0" marL="0">
              <a:lnSpc>
                <a:spcPct val="110000"/>
              </a:lnSpc>
              <a:buNone/>
            </a:pPr>
            <a:r>
              <a:rPr lang="en-US" sz="1500" b="1" dirty="0">
                <a:solidFill>
                  <a:schemeClr val="tx1"/>
                </a:solidFill>
              </a:rPr>
              <a:t>Photos</a:t>
            </a:r>
            <a:pPr algn="l" indent="0" marL="0">
              <a:lnSpc>
                <a:spcPct val="110000"/>
              </a:lnSpc>
              <a:buNone/>
            </a:pPr>
            <a:r>
              <a:rPr lang="en-US" sz="1500" dirty="0">
                <a:solidFill>
                  <a:schemeClr val="tx2"/>
                </a:solidFill>
              </a:rPr>
              <a:t>, and click the </a:t>
            </a:r>
            <a:pPr algn="l" indent="0" marL="0">
              <a:lnSpc>
                <a:spcPct val="110000"/>
              </a:lnSpc>
              <a:buNone/>
            </a:pPr>
            <a:r>
              <a:rPr lang="en-US" sz="1500" b="1" dirty="0">
                <a:solidFill>
                  <a:schemeClr val="tx1"/>
                </a:solidFill>
              </a:rPr>
              <a:t>Matches the concept</a:t>
            </a:r>
            <a:pPr algn="l" indent="0" marL="0">
              <a:lnSpc>
                <a:spcPct val="110000"/>
              </a:lnSpc>
              <a:buNone/>
            </a:pPr>
            <a:r>
              <a:rPr lang="en-US" sz="1500" dirty="0">
                <a:solidFill>
                  <a:schemeClr val="tx2"/>
                </a:solidFill>
              </a:rPr>
              <a:t> chip.</a:t>
            </a:r>
            <a:endParaRPr lang="en-US" sz="1500" dirty="0"/>
          </a:p>
        </p:txBody>
      </p:sp>
      <p:sp>
        <p:nvSpPr>
          <p:cNvPr id="12" name="Test 2"/>
          <p:cNvSpPr/>
          <p:nvPr/>
        </p:nvSpPr>
        <p:spPr>
          <a:xfrm>
            <a:off x="6334658" y="1691640"/>
            <a:ext cx="2539898" cy="4434840"/>
          </a:xfrm>
          <a:prstGeom prst="roundRect">
            <a:avLst>
              <a:gd name="adj" fmla="val 4320"/>
            </a:avLst>
          </a:prstGeom>
          <a:solidFill>
            <a:schemeClr val="bg1"/>
          </a:solidFill>
          <a:ln/>
          <a:effectLst>
            <a:outerShdw sx="100000" sy="100000" kx="0" ky="0" algn="bl" rotWithShape="0" blurRad="127000" dist="25400" dir="5400000">
              <a:srgbClr val="000000">
                <a:alpha val="7000"/>
              </a:srgbClr>
            </a:outerShdw>
          </a:effectLst>
        </p:spPr>
      </p:sp>
      <p:sp>
        <p:nvSpPr>
          <p:cNvPr id="13" name="Step 2"/>
          <p:cNvSpPr txBox="1"/>
          <p:nvPr/>
        </p:nvSpPr>
        <p:spPr>
          <a:xfrm>
            <a:off x="6563258" y="19659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6563258" y="2560320"/>
            <a:ext cx="2082698" cy="68580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Decide everything for me</a:t>
            </a:r>
            <a:endParaRPr lang="en-US" sz="1900" dirty="0"/>
          </a:p>
        </p:txBody>
      </p:sp>
      <p:sp>
        <p:nvSpPr>
          <p:cNvPr id="15" name="Text 12"/>
          <p:cNvSpPr txBox="1"/>
          <p:nvPr/>
        </p:nvSpPr>
        <p:spPr>
          <a:xfrm>
            <a:off x="6563258" y="3337560"/>
            <a:ext cx="2082698" cy="2651760"/>
          </a:xfrm>
          <a:prstGeom prst="rect">
            <a:avLst/>
          </a:prstGeom>
          <a:noFill/>
          <a:ln/>
        </p:spPr>
        <p:txBody>
          <a:bodyPr wrap="square" lIns="0" tIns="0" rIns="0" bIns="0" rtlCol="0" anchor="t"/>
          <a:lstStyle/>
          <a:p>
            <a:pPr algn="l" indent="0" marL="0">
              <a:lnSpc>
                <a:spcPct val="110000"/>
              </a:lnSpc>
              <a:buNone/>
            </a:pPr>
            <a:r>
              <a:rPr lang="en-US" sz="1500" dirty="0">
                <a:solidFill>
                  <a:schemeClr val="tx2"/>
                </a:solidFill>
              </a:rPr>
              <a:t>Click </a:t>
            </a:r>
            <a:pPr algn="l" indent="0" marL="0">
              <a:lnSpc>
                <a:spcPct val="110000"/>
              </a:lnSpc>
              <a:buNone/>
            </a:pPr>
            <a:r>
              <a:rPr lang="en-US" sz="1500" b="1" dirty="0">
                <a:solidFill>
                  <a:schemeClr val="tx1"/>
                </a:solidFill>
              </a:rPr>
              <a:t>Start your home</a:t>
            </a:r>
            <a:pPr algn="l" indent="0" marL="0">
              <a:lnSpc>
                <a:spcPct val="110000"/>
              </a:lnSpc>
              <a:buNone/>
            </a:pPr>
            <a:r>
              <a:rPr lang="en-US" sz="1500" dirty="0">
                <a:solidFill>
                  <a:schemeClr val="tx2"/>
                </a:solidFill>
              </a:rPr>
              <a:t> and type one message, e.g. “10 marla in G-13 Islamabad, 4 bedrooms, parents downstairs, modern”. Then click </a:t>
            </a:r>
            <a:pPr algn="l" indent="0" marL="0">
              <a:lnSpc>
                <a:spcPct val="110000"/>
              </a:lnSpc>
              <a:buNone/>
            </a:pPr>
            <a:r>
              <a:rPr lang="en-US" sz="1500" b="1" dirty="0">
                <a:solidFill>
                  <a:schemeClr val="tx1"/>
                </a:solidFill>
              </a:rPr>
              <a:t>Decide everything for me</a:t>
            </a:r>
            <a:pPr algn="l" indent="0" marL="0">
              <a:lnSpc>
                <a:spcPct val="110000"/>
              </a:lnSpc>
              <a:buNone/>
            </a:pPr>
            <a:r>
              <a:rPr lang="en-US" sz="1500" dirty="0">
                <a:solidFill>
                  <a:schemeClr val="tx2"/>
                </a:solidFill>
              </a:rPr>
              <a:t>. The house follows in about 10 minutes.</a:t>
            </a:r>
            <a:endParaRPr lang="en-US" sz="1500" dirty="0"/>
          </a:p>
        </p:txBody>
      </p:sp>
      <p:sp>
        <p:nvSpPr>
          <p:cNvPr id="16" name="Test 3"/>
          <p:cNvSpPr/>
          <p:nvPr/>
        </p:nvSpPr>
        <p:spPr>
          <a:xfrm>
            <a:off x="9103157" y="1691640"/>
            <a:ext cx="2539898" cy="4434840"/>
          </a:xfrm>
          <a:prstGeom prst="roundRect">
            <a:avLst>
              <a:gd name="adj" fmla="val 4320"/>
            </a:avLst>
          </a:prstGeom>
          <a:solidFill>
            <a:schemeClr val="bg1"/>
          </a:solidFill>
          <a:ln/>
          <a:effectLst>
            <a:outerShdw sx="100000" sy="100000" kx="0" ky="0" algn="bl" rotWithShape="0" blurRad="127000" dist="25400" dir="5400000">
              <a:srgbClr val="000000">
                <a:alpha val="7000"/>
              </a:srgbClr>
            </a:outerShdw>
          </a:effectLst>
        </p:spPr>
      </p:sp>
      <p:sp>
        <p:nvSpPr>
          <p:cNvPr id="17" name="Step 3"/>
          <p:cNvSpPr txBox="1"/>
          <p:nvPr/>
        </p:nvSpPr>
        <p:spPr>
          <a:xfrm>
            <a:off x="9331757" y="19659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9331757" y="2560320"/>
            <a:ext cx="2082698" cy="68580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Start from your drawing</a:t>
            </a:r>
            <a:endParaRPr lang="en-US" sz="1900" dirty="0"/>
          </a:p>
        </p:txBody>
      </p:sp>
      <p:sp>
        <p:nvSpPr>
          <p:cNvPr id="19" name="Text 16"/>
          <p:cNvSpPr txBox="1"/>
          <p:nvPr/>
        </p:nvSpPr>
        <p:spPr>
          <a:xfrm>
            <a:off x="9331757" y="3337560"/>
            <a:ext cx="2082698" cy="2651760"/>
          </a:xfrm>
          <a:prstGeom prst="rect">
            <a:avLst/>
          </a:prstGeom>
          <a:noFill/>
          <a:ln/>
        </p:spPr>
        <p:txBody>
          <a:bodyPr wrap="square" lIns="0" tIns="0" rIns="0" bIns="0" rtlCol="0" anchor="t"/>
          <a:lstStyle/>
          <a:p>
            <a:pPr algn="l" indent="0" marL="0">
              <a:lnSpc>
                <a:spcPct val="110000"/>
              </a:lnSpc>
              <a:buNone/>
            </a:pPr>
            <a:r>
              <a:rPr lang="en-US" sz="1500" dirty="0">
                <a:solidFill>
                  <a:schemeClr val="tx2"/>
                </a:solidFill>
              </a:rPr>
              <a:t>On the start page, click </a:t>
            </a:r>
            <a:pPr algn="l" indent="0" marL="0">
              <a:lnSpc>
                <a:spcPct val="110000"/>
              </a:lnSpc>
              <a:buNone/>
            </a:pPr>
            <a:r>
              <a:rPr lang="en-US" sz="1500" b="1" dirty="0">
                <a:solidFill>
                  <a:schemeClr val="tx1"/>
                </a:solidFill>
              </a:rPr>
              <a:t>Start from your drawing</a:t>
            </a:r>
            <a:pPr algn="l" indent="0" marL="0">
              <a:lnSpc>
                <a:spcPct val="110000"/>
              </a:lnSpc>
              <a:buNone/>
            </a:pPr>
            <a:r>
              <a:rPr lang="en-US" sz="1500" dirty="0">
                <a:solidFill>
                  <a:schemeClr val="tx2"/>
                </a:solidFill>
              </a:rPr>
              <a:t> and upload a photo of a floor plan. Nemotron VL reads it room by room.</a:t>
            </a:r>
            <a:endParaRPr lang="en-US" sz="1500" dirty="0"/>
          </a:p>
        </p:txBody>
      </p:sp>
      <p:sp>
        <p:nvSpPr>
          <p:cNvPr id="25" name="Slide Number Placeholder 0"/>
          <p:cNvSpPr>
            <a:spLocks noGrp="1"/>
          </p:cNvSpPr>
          <p:nvPr>
            <p:ph type="sldNum" sz="quarter" idx="4294967295"/>
          </p:nvPr>
        </p:nvSpPr>
        <p:spPr>
          <a:xfrm>
            <a:off x="11183112" y="637336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6E6E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Naqsha mark" descr="Naqsha mark">    </p:cNvPr>
          <p:cNvPicPr>
            <a:picLocks noChangeAspect="1"/>
          </p:cNvPicPr>
          <p:nvPr/>
        </p:nvPicPr>
        <p:blipFill>
          <a:blip r:embed="rId1"/>
          <a:stretch>
            <a:fillRect/>
          </a:stretch>
        </p:blipFill>
        <p:spPr>
          <a:xfrm>
            <a:off x="548640" y="548640"/>
            <a:ext cx="731520" cy="731520"/>
          </a:xfrm>
          <a:prstGeom prst="rect">
            <a:avLst/>
          </a:prstGeom>
        </p:spPr>
      </p:pic>
      <p:sp>
        <p:nvSpPr>
          <p:cNvPr id="3" name="Event"/>
          <p:cNvSpPr txBox="1"/>
          <p:nvPr/>
        </p:nvSpPr>
        <p:spPr>
          <a:xfrm>
            <a:off x="1463040" y="548640"/>
            <a:ext cx="5120640" cy="731520"/>
          </a:xfrm>
          <a:prstGeom prst="rect">
            <a:avLst/>
          </a:prstGeom>
          <a:noFill/>
          <a:ln/>
        </p:spPr>
        <p:txBody>
          <a:bodyPr wrap="square" lIns="0" tIns="0" rIns="0" bIns="0" rtlCol="0" anchor="ctr"/>
          <a:lstStyle/>
          <a:p>
            <a:pPr algn="l" indent="0" marL="0">
              <a:lnSpc>
                <a:spcPct val="100000"/>
              </a:lnSpc>
              <a:buNone/>
            </a:pPr>
            <a:r>
              <a:rPr lang="en-US" sz="1400" b="1" dirty="0">
                <a:solidFill>
                  <a:schemeClr val="bg1"/>
                </a:solidFill>
              </a:rPr>
              <a:t>Nebius x NVIDIA Global AI Hackathon</a:t>
            </a:r>
            <a:endParaRPr lang="en-US" sz="1400" dirty="0"/>
          </a:p>
          <a:p>
            <a:pPr algn="l" indent="0" marL="0">
              <a:lnSpc>
                <a:spcPct val="100000"/>
              </a:lnSpc>
              <a:buNone/>
            </a:pPr>
            <a:r>
              <a:rPr lang="en-US" sz="1400" dirty="0">
                <a:solidFill>
                  <a:schemeClr val="accent6"/>
                </a:solidFill>
              </a:rPr>
              <a:t>Best Apps and Agents · Devpost</a:t>
            </a:r>
            <a:endParaRPr lang="en-US" sz="1400" dirty="0"/>
          </a:p>
        </p:txBody>
      </p:sp>
      <p:sp>
        <p:nvSpPr>
          <p:cNvPr id="4" name="Text 0"/>
          <p:cNvSpPr/>
          <p:nvPr>
            <p:ph idx="100" type="title" hasCustomPrompt="1"/>
          </p:nvPr>
        </p:nvSpPr>
        <p:spPr>
          <a:xfrm>
            <a:off x="548640" y="1600200"/>
            <a:ext cx="6035040" cy="731520"/>
          </a:xfrm>
          <a:prstGeom prst="rect">
            <a:avLst/>
          </a:prstGeom>
          <a:noFill/>
          <a:ln/>
        </p:spPr>
        <p:txBody>
          <a:bodyPr wrap="square" lIns="0" tIns="0" rIns="0" bIns="0" rtlCol="0" anchor="t"/>
          <a:lstStyle/>
          <a:p>
            <a:pPr algn="l" indent="0" marL="0">
              <a:buNone/>
            </a:pPr>
            <a:r>
              <a:rPr lang="en-US" sz="4400" b="1" dirty="0">
                <a:solidFill>
                  <a:schemeClr val="bg1"/>
                </a:solidFill>
              </a:rPr>
              <a:t>Pivot Analytix</a:t>
            </a:r>
            <a:endParaRPr lang="en-US" sz="4400" dirty="0"/>
          </a:p>
        </p:txBody>
      </p:sp>
      <p:sp>
        <p:nvSpPr>
          <p:cNvPr id="5" name="Text 2"/>
          <p:cNvSpPr txBox="1"/>
          <p:nvPr/>
        </p:nvSpPr>
        <p:spPr>
          <a:xfrm>
            <a:off x="548640" y="2514600"/>
            <a:ext cx="5943600" cy="1188720"/>
          </a:xfrm>
          <a:prstGeom prst="rect">
            <a:avLst/>
          </a:prstGeom>
          <a:noFill/>
          <a:ln/>
        </p:spPr>
        <p:txBody>
          <a:bodyPr wrap="square" lIns="0" tIns="0" rIns="0" bIns="0" rtlCol="0" anchor="t"/>
          <a:lstStyle/>
          <a:p>
            <a:pPr algn="l" indent="0" marL="0">
              <a:lnSpc>
                <a:spcPct val="100000"/>
              </a:lnSpc>
              <a:spcAft>
                <a:spcPts val="600"/>
              </a:spcAft>
              <a:buNone/>
            </a:pPr>
            <a:r>
              <a:rPr lang="en-US" sz="2000" b="1" dirty="0">
                <a:solidFill>
                  <a:schemeClr val="bg1"/>
                </a:solidFill>
              </a:rPr>
              <a:t>Abdullah Moazzam</a:t>
            </a:r>
            <a:pPr algn="l" indent="0" marL="0">
              <a:lnSpc>
                <a:spcPct val="100000"/>
              </a:lnSpc>
              <a:spcAft>
                <a:spcPts val="600"/>
              </a:spcAft>
              <a:buNone/>
            </a:pPr>
            <a:r>
              <a:rPr lang="en-US" sz="2000" dirty="0">
                <a:solidFill>
                  <a:schemeClr val="accent6"/>
                </a:solidFill>
              </a:rPr>
              <a:t>  lead</a:t>
            </a:r>
            <a:endParaRPr lang="en-US" sz="2000" dirty="0"/>
          </a:p>
          <a:p>
            <a:pPr algn="l" indent="0" marL="0">
              <a:lnSpc>
                <a:spcPct val="100000"/>
              </a:lnSpc>
              <a:spcAft>
                <a:spcPts val="600"/>
              </a:spcAft>
              <a:buNone/>
            </a:pPr>
            <a:r>
              <a:rPr lang="en-US" sz="2000" b="1" dirty="0">
                <a:solidFill>
                  <a:schemeClr val="bg1"/>
                </a:solidFill>
              </a:rPr>
              <a:t>Saad Wali Muhammad Joiya</a:t>
            </a:r>
            <a:endParaRPr lang="en-US" sz="2000" dirty="0"/>
          </a:p>
          <a:p>
            <a:pPr algn="l" indent="0" marL="0">
              <a:lnSpc>
                <a:spcPct val="100000"/>
              </a:lnSpc>
              <a:spcAft>
                <a:spcPts val="600"/>
              </a:spcAft>
              <a:buNone/>
            </a:pPr>
            <a:r>
              <a:rPr lang="en-US" sz="2000" b="1" dirty="0">
                <a:solidFill>
                  <a:schemeClr val="bg1"/>
                </a:solidFill>
              </a:rPr>
              <a:t>Usama Bin Maalik</a:t>
            </a:r>
            <a:endParaRPr lang="en-US" sz="2000" dirty="0"/>
          </a:p>
        </p:txBody>
      </p:sp>
      <p:sp>
        <p:nvSpPr>
          <p:cNvPr id="6" name="Links card"/>
          <p:cNvSpPr/>
          <p:nvPr/>
        </p:nvSpPr>
        <p:spPr>
          <a:xfrm>
            <a:off x="548640" y="3840480"/>
            <a:ext cx="6035040" cy="1874520"/>
          </a:xfrm>
          <a:prstGeom prst="roundRect">
            <a:avLst>
              <a:gd name="adj" fmla="val 5854"/>
            </a:avLst>
          </a:prstGeom>
          <a:solidFill>
            <a:schemeClr val="bg1"/>
          </a:solidFill>
          <a:ln/>
        </p:spPr>
      </p:sp>
      <p:sp>
        <p:nvSpPr>
          <p:cNvPr id="7" name="Text 4"/>
          <p:cNvSpPr txBox="1"/>
          <p:nvPr/>
        </p:nvSpPr>
        <p:spPr>
          <a:xfrm>
            <a:off x="822960" y="4023360"/>
            <a:ext cx="1280160" cy="365760"/>
          </a:xfrm>
          <a:prstGeom prst="rect">
            <a:avLst/>
          </a:prstGeom>
          <a:noFill/>
          <a:ln/>
        </p:spPr>
        <p:txBody>
          <a:bodyPr wrap="square" lIns="0" tIns="0" rIns="0" bIns="0" rtlCol="0" anchor="t"/>
          <a:lstStyle/>
          <a:p>
            <a:pPr algn="l" indent="0" marL="0">
              <a:lnSpc>
                <a:spcPct val="100000"/>
              </a:lnSpc>
              <a:buNone/>
            </a:pPr>
            <a:r>
              <a:rPr lang="en-US" sz="1600" b="1" dirty="0">
                <a:solidFill>
                  <a:schemeClr val="tx1"/>
                </a:solidFill>
              </a:rPr>
              <a:t>Live app</a:t>
            </a:r>
            <a:endParaRPr lang="en-US" sz="1600" dirty="0"/>
          </a:p>
        </p:txBody>
      </p:sp>
      <p:sp>
        <p:nvSpPr>
          <p:cNvPr id="8" name="Text 5"/>
          <p:cNvSpPr txBox="1"/>
          <p:nvPr/>
        </p:nvSpPr>
        <p:spPr>
          <a:xfrm>
            <a:off x="2103120" y="4023360"/>
            <a:ext cx="4389120" cy="365760"/>
          </a:xfrm>
          <a:prstGeom prst="rect">
            <a:avLst/>
          </a:prstGeom>
          <a:noFill/>
          <a:ln/>
        </p:spPr>
        <p:txBody>
          <a:bodyPr wrap="square" lIns="0" tIns="0" rIns="0" bIns="0" rtlCol="0" anchor="t"/>
          <a:lstStyle/>
          <a:p>
            <a:pPr algn="l" indent="0" marL="0">
              <a:lnSpc>
                <a:spcPct val="100000"/>
              </a:lnSpc>
              <a:buNone/>
            </a:pPr>
            <a:r>
              <a:rPr lang="en-US" sz="16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naqsha-963839790554.us-central1.run.app</a:t>
            </a:r>
            <a:endParaRPr lang="en-US" sz="1600" dirty="0"/>
          </a:p>
        </p:txBody>
      </p:sp>
      <p:sp>
        <p:nvSpPr>
          <p:cNvPr id="9" name="Text 6"/>
          <p:cNvSpPr txBox="1"/>
          <p:nvPr/>
        </p:nvSpPr>
        <p:spPr>
          <a:xfrm>
            <a:off x="2103120" y="4389120"/>
            <a:ext cx="4389120"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3"/>
                </a:solidFill>
              </a:rPr>
              <a:t>no account needed</a:t>
            </a:r>
            <a:endParaRPr lang="en-US" sz="1400" dirty="0"/>
          </a:p>
        </p:txBody>
      </p:sp>
      <p:sp>
        <p:nvSpPr>
          <p:cNvPr id="10" name="Text 7"/>
          <p:cNvSpPr txBox="1"/>
          <p:nvPr/>
        </p:nvSpPr>
        <p:spPr>
          <a:xfrm>
            <a:off x="822960" y="4846320"/>
            <a:ext cx="1280160" cy="365760"/>
          </a:xfrm>
          <a:prstGeom prst="rect">
            <a:avLst/>
          </a:prstGeom>
          <a:noFill/>
          <a:ln/>
        </p:spPr>
        <p:txBody>
          <a:bodyPr wrap="square" lIns="0" tIns="0" rIns="0" bIns="0" rtlCol="0" anchor="t"/>
          <a:lstStyle/>
          <a:p>
            <a:pPr algn="l" indent="0" marL="0">
              <a:lnSpc>
                <a:spcPct val="100000"/>
              </a:lnSpc>
              <a:buNone/>
            </a:pPr>
            <a:r>
              <a:rPr lang="en-US" sz="1600" b="1" dirty="0">
                <a:solidFill>
                  <a:schemeClr val="tx1"/>
                </a:solidFill>
              </a:rPr>
              <a:t>Code</a:t>
            </a:r>
            <a:endParaRPr lang="en-US" sz="1600" dirty="0"/>
          </a:p>
        </p:txBody>
      </p:sp>
      <p:sp>
        <p:nvSpPr>
          <p:cNvPr id="11" name="Text 8"/>
          <p:cNvSpPr txBox="1"/>
          <p:nvPr/>
        </p:nvSpPr>
        <p:spPr>
          <a:xfrm>
            <a:off x="2103120" y="4846320"/>
            <a:ext cx="4389120" cy="365760"/>
          </a:xfrm>
          <a:prstGeom prst="rect">
            <a:avLst/>
          </a:prstGeom>
          <a:noFill/>
          <a:ln/>
        </p:spPr>
        <p:txBody>
          <a:bodyPr wrap="square" lIns="0" tIns="0" rIns="0" bIns="0" rtlCol="0" anchor="t"/>
          <a:lstStyle/>
          <a:p>
            <a:pPr algn="l" indent="0" marL="0">
              <a:lnSpc>
                <a:spcPct val="100000"/>
              </a:lnSpc>
              <a:buNone/>
            </a:pPr>
            <a:r>
              <a:rPr lang="en-US" sz="160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github.com/abdm693/naqsha</a:t>
            </a:r>
            <a:endParaRPr lang="en-US" sz="1600" dirty="0"/>
          </a:p>
        </p:txBody>
      </p:sp>
      <p:sp>
        <p:nvSpPr>
          <p:cNvPr id="12" name="Text 9"/>
          <p:cNvSpPr txBox="1"/>
          <p:nvPr/>
        </p:nvSpPr>
        <p:spPr>
          <a:xfrm>
            <a:off x="2103120" y="5212080"/>
            <a:ext cx="4389120" cy="320040"/>
          </a:xfrm>
          <a:prstGeom prst="rect">
            <a:avLst/>
          </a:prstGeom>
          <a:noFill/>
          <a:ln/>
        </p:spPr>
        <p:txBody>
          <a:bodyPr wrap="square" lIns="0" tIns="0" rIns="0" bIns="0" rtlCol="0" anchor="t"/>
          <a:lstStyle/>
          <a:p>
            <a:pPr algn="l" indent="0" marL="0">
              <a:lnSpc>
                <a:spcPct val="100000"/>
              </a:lnSpc>
              <a:buNone/>
            </a:pPr>
            <a:r>
              <a:rPr lang="en-US" sz="1400" dirty="0">
                <a:solidFill>
                  <a:schemeClr val="accent3"/>
                </a:solidFill>
              </a:rPr>
              <a:t>AGPL-3.0</a:t>
            </a:r>
            <a:endParaRPr lang="en-US" sz="1400" dirty="0"/>
          </a:p>
        </p:txBody>
      </p:sp>
      <p:sp>
        <p:nvSpPr>
          <p:cNvPr id="13" name="Chip Agents on NVIDIA Nemotron · Nebius Token Factory"/>
          <p:cNvSpPr txBox="1"/>
          <p:nvPr/>
        </p:nvSpPr>
        <p:spPr>
          <a:xfrm>
            <a:off x="548640" y="5943600"/>
            <a:ext cx="4572000" cy="384048"/>
          </a:xfrm>
          <a:prstGeom prst="roundRect">
            <a:avLst>
              <a:gd name="adj" fmla="val 42857"/>
            </a:avLst>
          </a:prstGeom>
          <a:solidFill>
            <a:schemeClr val="accent2"/>
          </a:solidFill>
          <a:ln/>
        </p:spPr>
        <p:txBody>
          <a:bodyPr wrap="square" lIns="0" tIns="0" rIns="0" bIns="0" rtlCol="0" anchor="ctr"/>
          <a:lstStyle/>
          <a:p>
            <a:pPr algn="ctr" indent="0" marL="0">
              <a:buNone/>
            </a:pPr>
            <a:r>
              <a:rPr lang="en-US" sz="1400" b="1" dirty="0">
                <a:solidFill>
                  <a:schemeClr val="tx1"/>
                </a:solidFill>
              </a:rPr>
              <a:t>Agents on NVIDIA Nemotron · Nebius Token Factory</a:t>
            </a:r>
            <a:endParaRPr lang="en-US" sz="1400" dirty="0"/>
          </a:p>
        </p:txBody>
      </p:sp>
      <p:pic>
        <p:nvPicPr>
          <p:cNvPr id="14" name="Closing photo" descr="Aerial photo of the Islamabad home, made from its 3D model">    </p:cNvPr>
          <p:cNvPicPr>
            <a:picLocks noChangeAspect="1"/>
          </p:cNvPicPr>
          <p:nvPr/>
        </p:nvPicPr>
        <p:blipFill>
          <a:blip r:embed="rId4"/>
          <a:stretch>
            <a:fillRect/>
          </a:stretch>
        </p:blipFill>
        <p:spPr>
          <a:xfrm>
            <a:off x="7071055" y="0"/>
            <a:ext cx="5120640" cy="6858000"/>
          </a:xfrm>
          <a:prstGeom prst="rect">
            <a:avLst/>
          </a:prstGeom>
        </p:spPr>
      </p:pic>
    </p:spTree>
  </p:cSld>
  <p:clrMapOvr>
    <a:masterClrMapping/>
  </p:clrMapOvr>
</p:sld>
</file>

<file path=ppt/theme/theme1.xml><?xml version="1.0" encoding="utf-8"?>
<a:theme xmlns:a="http://schemas.openxmlformats.org/drawingml/2006/main" name="Naqsha Nebius">
  <a:themeElements>
    <a:clrScheme name="Naqsha Nebius">
      <a:dk1>
        <a:srgbClr val="111113"/>
      </a:dk1>
      <a:lt1>
        <a:srgbClr val="FFFFFF"/>
      </a:lt1>
      <a:dk2>
        <a:srgbClr val="46464B"/>
      </a:dk2>
      <a:lt2>
        <a:srgbClr val="F3F2EE"/>
      </a:lt2>
      <a:accent1>
        <a:srgbClr val="2747F5"/>
      </a:accent1>
      <a:accent2>
        <a:srgbClr val="76B900"/>
      </a:accent2>
      <a:accent3>
        <a:srgbClr val="6E6E73"/>
      </a:accent3>
      <a:accent4>
        <a:srgbClr val="EDF0FF"/>
      </a:accent4>
      <a:accent5>
        <a:srgbClr val="7D93FF"/>
      </a:accent5>
      <a:accent6>
        <a:srgbClr val="A3A3AD"/>
      </a:accent6>
      <a:hlink>
        <a:srgbClr val="2747F5"/>
      </a:hlink>
      <a:folHlink>
        <a:srgbClr val="2747F5"/>
      </a:folHlink>
    </a:clrScheme>
    <a:fontScheme name="Naqsha Nebi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Pivot Analytix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Naqsha · Nebius x NVIDIA Global AI Hackathon</dc:title>
  <dc:subject>Pitch deck, Best Apps and Agents track, Devpost</dc:subject>
  <dc:creator>Pivot Analytix</dc:creator>
  <cp:lastModifiedBy>Pivot Analytix</cp:lastModifiedBy>
  <cp:revision>1</cp:revision>
  <dcterms:created xsi:type="dcterms:W3CDTF">2026-10-29T07:46:02Z</dcterms:created>
  <dcterms:modified xsi:type="dcterms:W3CDTF">2026-10-29T07:46:02Z</dcterms:modified>
</cp:coreProperties>
</file>